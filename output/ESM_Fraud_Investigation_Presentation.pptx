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Arial"/>
              </a:defRPr>
            </a:pPr>
            <a:r>
              <a:rPr sz="1400" b="0" i="0" u="none" strike="noStrike">
                <a:solidFill>
                  <a:srgbClr val="0B1F3A"/>
                </a:solidFill>
                <a:latin typeface="Arial"/>
              </a:rPr>
              <a:t>Cash in vs cash out (IDR bn)</a:t>
            </a:r>
          </a:p>
        </c:rich>
      </c:tx>
      <c:layout/>
      <c:overlay val="0"/>
    </c:title>
    <c:autoTitleDeleted val="0"/>
    <c:plotArea>
      <c:layout/>
      <c:barChart>
        <c:barDir val="col"/>
        <c:grouping val="clustered"/>
        <c:varyColors val="0"/>
        <c:ser>
          <c:idx val="0"/>
          <c:order val="0"/>
          <c:tx>
            <c:strRef>
              <c:f>Sheet1!$B$1</c:f>
              <c:strCache>
                <c:ptCount val="1"/>
                <c:pt idx="0">
                  <c:v>IDR bn</c:v>
                </c:pt>
              </c:strCache>
            </c:strRef>
          </c:tx>
          <c:spPr>
            <a:solidFill>
              <a:srgbClr val="2F6DB5"/>
            </a:solidFill>
            <a:effectLst/>
          </c:spPr>
          <c:invertIfNegative val="0"/>
          <c:dLbls>
            <c:numFmt formatCode="0.00"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2F6DB5"/>
              </a:solidFill>
              <a:effectLst/>
            </c:spPr>
          </c:dPt>
          <c:dPt>
            <c:idx val="1"/>
            <c:invertIfNegative val="0"/>
            <c:bubble3D val="0"/>
            <c:spPr>
              <a:solidFill>
                <a:srgbClr val="F2A541"/>
              </a:solidFill>
              <a:effectLst/>
            </c:spPr>
          </c:dPt>
          <c:cat>
            <c:multiLvlStrRef>
              <c:f>Sheet1!$A$2:$A$3</c:f>
              <c:multiLvlStrCache>
                <c:ptCount val="2"/>
                <c:lvl>
                  <c:pt idx="0">
                    <c:v>Received (fees)</c:v>
                  </c:pt>
                  <c:pt idx="1">
                    <c:v>Paid out</c:v>
                  </c:pt>
                </c:lvl>
              </c:multiLvlStrCache>
            </c:multiLvlStrRef>
          </c:cat>
          <c:val>
            <c:numRef>
              <c:f>Sheet1!$B$2:$B$3</c:f>
              <c:numCache>
                <c:formatCode>General</c:formatCode>
                <c:ptCount val="2"/>
                <c:pt idx="0">
                  <c:v>26.93</c:v>
                </c:pt>
                <c:pt idx="1">
                  <c:v>20.08</c:v>
                </c:pt>
              </c:numCache>
            </c:numRef>
          </c:val>
        </c:ser>
        <c:dLbls>
          <c:numFmt formatCode="0.00"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Timing</c:v>
                </c:pt>
              </c:strCache>
            </c:strRef>
          </c:tx>
          <c:spPr>
            <a:solidFill>
              <a:schemeClr val="accent1"/>
            </a:solidFill>
            <a:ln w="9525" cap="flat">
              <a:solidFill>
                <a:srgbClr val="F9F9F9"/>
              </a:solidFill>
              <a:prstDash val="solid"/>
              <a:round/>
            </a:ln>
            <a:effectLst/>
          </c:spPr>
          <c:dPt>
            <c:idx val="0"/>
            <c:bubble3D val="0"/>
            <c:spPr>
              <a:solidFill>
                <a:srgbClr val="C8362E"/>
              </a:solidFill>
              <a:effectLst/>
            </c:spPr>
          </c:dPt>
          <c:dPt>
            <c:idx val="1"/>
            <c:bubble3D val="0"/>
            <c:spPr>
              <a:solidFill>
                <a:srgbClr val="F2A541"/>
              </a:solidFill>
              <a:effectLst/>
            </c:spPr>
          </c:dPt>
          <c:dPt>
            <c:idx val="2"/>
            <c:bubble3D val="0"/>
            <c:spPr>
              <a:solidFill>
                <a:srgbClr val="2E8B57"/>
              </a:solidFill>
              <a:effectLst/>
            </c:spPr>
          </c:dPt>
          <c:dLbls>
            <c:dLbl>
              <c:idx val="0"/>
              <c:numFmt formatCode="General" sourceLinked="0"/>
              <c:spPr/>
              <c:txPr>
                <a:bodyPr/>
                <a:lstStyle/>
                <a:p>
                  <a:pPr>
                    <a:defRPr sz="16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600" b="0"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6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Before agreement date</c:v>
                </c:pt>
                <c:pt idx="1">
                  <c:v>Late vs due date</c:v>
                </c:pt>
                <c:pt idx="2">
                  <c:v>On time</c:v>
                </c:pt>
              </c:strCache>
            </c:strRef>
          </c:cat>
          <c:val>
            <c:numRef>
              <c:f>Sheet1!$B$2:$B$4</c:f>
              <c:numCache>
                <c:ptCount val="3"/>
                <c:pt idx="0">
                  <c:v>21</c:v>
                </c:pt>
                <c:pt idx="1">
                  <c:v>16</c:v>
                </c:pt>
                <c:pt idx="2">
                  <c:v>3</c:v>
                </c:pt>
              </c:numCache>
            </c:numRef>
          </c:val>
        </c:ser>
        <c:firstSliceAng val="0"/>
        <c:holeSize val="55"/>
      </c:doughnutChart>
      <c:spPr>
        <a:noFill/>
        <a:ln>
          <a:noFill/>
        </a:ln>
        <a:effectLst/>
      </c:spPr>
    </c:plotArea>
    <c:legend>
      <c:legendPos val="b"/>
      <c:overlay val="0"/>
      <c:txPr>
        <a:bodyPr/>
        <a:lstStyle/>
        <a:p>
          <a:pPr>
            <a:defRPr sz="13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Arial"/>
              </a:defRPr>
            </a:pPr>
            <a:r>
              <a:rPr sz="1400" b="0" i="0" u="none" strike="noStrike">
                <a:solidFill>
                  <a:srgbClr val="0B1F3A"/>
                </a:solidFill>
                <a:latin typeface="Arial"/>
              </a:rPr>
              <a:t>IDR bn by classification</a:t>
            </a:r>
          </a:p>
        </c:rich>
      </c:tx>
      <c:layout/>
      <c:overlay val="0"/>
    </c:title>
    <c:autoTitleDeleted val="0"/>
    <c:plotArea>
      <c:layout/>
      <c:barChart>
        <c:barDir val="bar"/>
        <c:grouping val="clustered"/>
        <c:varyColors val="0"/>
        <c:ser>
          <c:idx val="0"/>
          <c:order val="0"/>
          <c:tx>
            <c:strRef>
              <c:f>Sheet1!$B$1</c:f>
              <c:strCache>
                <c:ptCount val="1"/>
                <c:pt idx="0">
                  <c:v>IDR bn</c:v>
                </c:pt>
              </c:strCache>
            </c:strRef>
          </c:tx>
          <c:spPr>
            <a:solidFill>
              <a:srgbClr val="2E8B57"/>
            </a:solidFill>
            <a:effectLst/>
          </c:spPr>
          <c:invertIfNegative val="0"/>
          <c:dLbls>
            <c:numFmt formatCode="0.00"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2E8B57"/>
              </a:solidFill>
              <a:effectLst/>
            </c:spPr>
          </c:dPt>
          <c:dPt>
            <c:idx val="1"/>
            <c:invertIfNegative val="0"/>
            <c:bubble3D val="0"/>
            <c:spPr>
              <a:solidFill>
                <a:srgbClr val="F2A541"/>
              </a:solidFill>
              <a:effectLst/>
            </c:spPr>
          </c:dPt>
          <c:dPt>
            <c:idx val="2"/>
            <c:invertIfNegative val="0"/>
            <c:bubble3D val="0"/>
            <c:spPr>
              <a:solidFill>
                <a:srgbClr val="F2A541"/>
              </a:solidFill>
              <a:effectLst/>
            </c:spPr>
          </c:dPt>
          <c:dPt>
            <c:idx val="3"/>
            <c:invertIfNegative val="0"/>
            <c:bubble3D val="0"/>
            <c:spPr>
              <a:solidFill>
                <a:srgbClr val="C8362E"/>
              </a:solidFill>
              <a:effectLst/>
            </c:spPr>
          </c:dPt>
          <c:cat>
            <c:multiLvlStrRef>
              <c:f>Sheet1!$A$2:$A$5</c:f>
              <c:multiLvlStrCache>
                <c:ptCount val="4"/>
                <c:lvl>
                  <c:pt idx="0">
                    <c:v>Legitimate (provisional)</c:v>
                  </c:pt>
                  <c:pt idx="1">
                    <c:v>Unresolved: RNS with contract</c:v>
                  </c:pt>
                  <c:pt idx="2">
                    <c:v>Unresolved: partial docs</c:v>
                  </c:pt>
                  <c:pt idx="3">
                    <c:v>Suspected fraud</c:v>
                  </c:pt>
                </c:lvl>
              </c:multiLvlStrCache>
            </c:multiLvlStrRef>
          </c:cat>
          <c:val>
            <c:numRef>
              <c:f>Sheet1!$B$2:$B$5</c:f>
              <c:numCache>
                <c:formatCode>General</c:formatCode>
                <c:ptCount val="4"/>
                <c:pt idx="0">
                  <c:v>2</c:v>
                </c:pt>
                <c:pt idx="1">
                  <c:v>0.5</c:v>
                </c:pt>
                <c:pt idx="2">
                  <c:v>4.58</c:v>
                </c:pt>
                <c:pt idx="3">
                  <c:v>13</c:v>
                </c:pt>
              </c:numCache>
            </c:numRef>
          </c:val>
        </c:ser>
        <c:dLbls>
          <c:numFmt formatCode="0.00"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Arial"/>
              </a:defRPr>
            </a:pPr>
            <a:r>
              <a:rPr sz="1400" b="0" i="0" u="none" strike="noStrike">
                <a:solidFill>
                  <a:srgbClr val="0B1F3A"/>
                </a:solidFill>
                <a:latin typeface="Arial"/>
              </a:rPr>
              <a:t>Total paid by beneficiary (IDR bn)</a:t>
            </a:r>
          </a:p>
        </c:rich>
      </c:tx>
      <c:layout/>
      <c:overlay val="0"/>
    </c:title>
    <c:autoTitleDeleted val="0"/>
    <c:plotArea>
      <c:layout/>
      <c:barChart>
        <c:barDir val="bar"/>
        <c:grouping val="clustered"/>
        <c:varyColors val="0"/>
        <c:ser>
          <c:idx val="0"/>
          <c:order val="0"/>
          <c:tx>
            <c:strRef>
              <c:f>Sheet1!$B$1</c:f>
              <c:strCache>
                <c:ptCount val="1"/>
                <c:pt idx="0">
                  <c:v>IDR bn</c:v>
                </c:pt>
              </c:strCache>
            </c:strRef>
          </c:tx>
          <c:spPr>
            <a:solidFill>
              <a:srgbClr val="0B1F3A"/>
            </a:solidFill>
            <a:effectLst/>
          </c:spPr>
          <c:invertIfNegative val="0"/>
          <c:dLbls>
            <c:numFmt formatCode="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B1F3A"/>
              </a:solidFill>
              <a:effectLst/>
            </c:spPr>
          </c:dPt>
          <c:dPt>
            <c:idx val="1"/>
            <c:invertIfNegative val="0"/>
            <c:bubble3D val="0"/>
            <c:spPr>
              <a:solidFill>
                <a:srgbClr val="0B1F3A"/>
              </a:solidFill>
              <a:effectLst/>
            </c:spPr>
          </c:dPt>
          <c:dPt>
            <c:idx val="2"/>
            <c:invertIfNegative val="0"/>
            <c:bubble3D val="0"/>
            <c:spPr>
              <a:solidFill>
                <a:srgbClr val="0B1F3A"/>
              </a:solidFill>
              <a:effectLst/>
            </c:spPr>
          </c:dPt>
          <c:dPt>
            <c:idx val="3"/>
            <c:invertIfNegative val="0"/>
            <c:bubble3D val="0"/>
            <c:spPr>
              <a:solidFill>
                <a:srgbClr val="0B1F3A"/>
              </a:solidFill>
              <a:effectLst/>
            </c:spPr>
          </c:dPt>
          <c:dPt>
            <c:idx val="4"/>
            <c:invertIfNegative val="0"/>
            <c:bubble3D val="0"/>
            <c:spPr>
              <a:solidFill>
                <a:srgbClr val="0B1F3A"/>
              </a:solidFill>
              <a:effectLst/>
            </c:spPr>
          </c:dPt>
          <c:dPt>
            <c:idx val="5"/>
            <c:invertIfNegative val="0"/>
            <c:bubble3D val="0"/>
            <c:spPr>
              <a:solidFill>
                <a:srgbClr val="0B1F3A"/>
              </a:solidFill>
              <a:effectLst/>
            </c:spPr>
          </c:dPt>
          <c:dPt>
            <c:idx val="6"/>
            <c:invertIfNegative val="0"/>
            <c:bubble3D val="0"/>
            <c:spPr>
              <a:solidFill>
                <a:srgbClr val="0B1F3A"/>
              </a:solidFill>
              <a:effectLst/>
            </c:spPr>
          </c:dPt>
          <c:dPt>
            <c:idx val="7"/>
            <c:invertIfNegative val="0"/>
            <c:bubble3D val="0"/>
            <c:spPr>
              <a:solidFill>
                <a:srgbClr val="0B1F3A"/>
              </a:solidFill>
              <a:effectLst/>
            </c:spPr>
          </c:dPt>
          <c:dPt>
            <c:idx val="8"/>
            <c:invertIfNegative val="0"/>
            <c:bubble3D val="0"/>
            <c:spPr>
              <a:solidFill>
                <a:srgbClr val="0B1F3A"/>
              </a:solidFill>
              <a:effectLst/>
            </c:spPr>
          </c:dPt>
          <c:dPt>
            <c:idx val="9"/>
            <c:invertIfNegative val="0"/>
            <c:bubble3D val="0"/>
            <c:spPr>
              <a:solidFill>
                <a:srgbClr val="C8362E"/>
              </a:solidFill>
              <a:effectLst/>
            </c:spPr>
          </c:dPt>
          <c:cat>
            <c:multiLvlStrRef>
              <c:f>Sheet1!$A$2:$A$11</c:f>
              <c:multiLvlStrCache>
                <c:ptCount val="10"/>
                <c:lvl>
                  <c:pt idx="0">
                    <c:v>Laut Natuna Jasa</c:v>
                  </c:pt>
                  <c:pt idx="1">
                    <c:v>Laut Flores Teknologi</c:v>
                  </c:pt>
                  <c:pt idx="2">
                    <c:v>Laut Seram Konsultan</c:v>
                  </c:pt>
                  <c:pt idx="3">
                    <c:v>Laut Arafura Media</c:v>
                  </c:pt>
                  <c:pt idx="4">
                    <c:v>Laut Timor Properti</c:v>
                  </c:pt>
                  <c:pt idx="5">
                    <c:v>Laut Jawa Tomasan</c:v>
                  </c:pt>
                  <c:pt idx="6">
                    <c:v>Laut Maluku Proyek</c:v>
                  </c:pt>
                  <c:pt idx="7">
                    <c:v>Laut Sawu Distribusi</c:v>
                  </c:pt>
                  <c:pt idx="8">
                    <c:v>Laut Banda Pangan</c:v>
                  </c:pt>
                  <c:pt idx="9">
                    <c:v>Rinjani Niaga Sentosa</c:v>
                  </c:pt>
                </c:lvl>
              </c:multiLvlStrCache>
            </c:multiLvlStrRef>
          </c:cat>
          <c:val>
            <c:numRef>
              <c:f>Sheet1!$B$2:$B$11</c:f>
              <c:numCache>
                <c:formatCode>General</c:formatCode>
                <c:ptCount val="10"/>
                <c:pt idx="0">
                  <c:v>0.47</c:v>
                </c:pt>
                <c:pt idx="1">
                  <c:v>0.53</c:v>
                </c:pt>
                <c:pt idx="2">
                  <c:v>0.65</c:v>
                </c:pt>
                <c:pt idx="3">
                  <c:v>0.65</c:v>
                </c:pt>
                <c:pt idx="4">
                  <c:v>0.72</c:v>
                </c:pt>
                <c:pt idx="5">
                  <c:v>0.75</c:v>
                </c:pt>
                <c:pt idx="6">
                  <c:v>0.76</c:v>
                </c:pt>
                <c:pt idx="7">
                  <c:v>0.9</c:v>
                </c:pt>
                <c:pt idx="8">
                  <c:v>1.15</c:v>
                </c:pt>
                <c:pt idx="9">
                  <c:v>13.5</c:v>
                </c:pt>
              </c:numCache>
            </c:numRef>
          </c:val>
        </c:ser>
        <c:dLbls>
          <c:numFmt formatCode="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Arial"/>
              </a:defRPr>
            </a:pPr>
            <a:r>
              <a:rPr sz="1400" b="0" i="0" u="none" strike="noStrike">
                <a:solidFill>
                  <a:srgbClr val="0B1F3A"/>
                </a:solidFill>
                <a:latin typeface="Arial"/>
              </a:rPr>
              <a:t>Payments to RNS (IDR million)</a:t>
            </a:r>
          </a:p>
        </c:rich>
      </c:tx>
      <c:layout/>
      <c:overlay val="0"/>
    </c:title>
    <c:autoTitleDeleted val="0"/>
    <c:plotArea>
      <c:layout/>
      <c:barChart>
        <c:barDir val="col"/>
        <c:grouping val="stacked"/>
        <c:varyColors val="0"/>
        <c:ser>
          <c:idx val="0"/>
          <c:order val="0"/>
          <c:tx>
            <c:strRef>
              <c:f>Sheet1!$B$1</c:f>
              <c:strCache>
                <c:ptCount val="1"/>
                <c:pt idx="0">
                  <c:v>No contract / PO / delivery evidence</c:v>
                </c:pt>
              </c:strCache>
            </c:strRef>
          </c:tx>
          <c:spPr>
            <a:solidFill>
              <a:srgbClr val="C8362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Sheet1!$A$2:$A$17</c:f>
              <c:multiLvlStrCache>
                <c:ptCount val="16"/>
                <c:lvl>
                  <c:pt idx="0">
                    <c:v>Apr-23</c:v>
                  </c:pt>
                  <c:pt idx="1">
                    <c:v>May-23</c:v>
                  </c:pt>
                  <c:pt idx="2">
                    <c:v>Jun-23</c:v>
                  </c:pt>
                  <c:pt idx="3">
                    <c:v>Jul-23</c:v>
                  </c:pt>
                  <c:pt idx="4">
                    <c:v>Aug-23</c:v>
                  </c:pt>
                  <c:pt idx="5">
                    <c:v>Sep-23</c:v>
                  </c:pt>
                  <c:pt idx="6">
                    <c:v>Nov-23</c:v>
                  </c:pt>
                  <c:pt idx="7">
                    <c:v>Dec-23</c:v>
                  </c:pt>
                  <c:pt idx="8">
                    <c:v>Jan-24</c:v>
                  </c:pt>
                  <c:pt idx="9">
                    <c:v>Feb-24</c:v>
                  </c:pt>
                  <c:pt idx="10">
                    <c:v>Mar-24</c:v>
                  </c:pt>
                  <c:pt idx="11">
                    <c:v>Apr-24</c:v>
                  </c:pt>
                  <c:pt idx="12">
                    <c:v>May-24</c:v>
                  </c:pt>
                  <c:pt idx="13">
                    <c:v>Jul-24</c:v>
                  </c:pt>
                  <c:pt idx="14">
                    <c:v>Sep-24</c:v>
                  </c:pt>
                  <c:pt idx="15">
                    <c:v>Oct-24</c:v>
                  </c:pt>
                </c:lvl>
              </c:multiLvlStrCache>
            </c:multiLvlStrRef>
          </c:cat>
          <c:val>
            <c:numRef>
              <c:f>Sheet1!$B$2:$B$17</c:f>
              <c:numCache>
                <c:formatCode>General</c:formatCode>
                <c:ptCount val="16"/>
                <c:pt idx="0">
                  <c:v>920</c:v>
                </c:pt>
                <c:pt idx="1">
                  <c:v>975</c:v>
                </c:pt>
                <c:pt idx="2">
                  <c:v>900</c:v>
                </c:pt>
                <c:pt idx="3">
                  <c:v>850</c:v>
                </c:pt>
                <c:pt idx="4">
                  <c:v>950</c:v>
                </c:pt>
                <c:pt idx="5">
                  <c:v>550</c:v>
                </c:pt>
                <c:pt idx="6">
                  <c:v>750</c:v>
                </c:pt>
                <c:pt idx="7">
                  <c:v>975</c:v>
                </c:pt>
                <c:pt idx="8">
                  <c:v>880</c:v>
                </c:pt>
                <c:pt idx="9">
                  <c:v>850</c:v>
                </c:pt>
                <c:pt idx="10">
                  <c:v>800</c:v>
                </c:pt>
                <c:pt idx="11">
                  <c:v>0</c:v>
                </c:pt>
                <c:pt idx="12">
                  <c:v>850</c:v>
                </c:pt>
                <c:pt idx="13">
                  <c:v>975</c:v>
                </c:pt>
                <c:pt idx="14">
                  <c:v>825</c:v>
                </c:pt>
                <c:pt idx="15">
                  <c:v>950</c:v>
                </c:pt>
              </c:numCache>
            </c:numRef>
          </c:val>
        </c:ser>
        <c:ser>
          <c:idx val="1"/>
          <c:order val="1"/>
          <c:tx>
            <c:strRef>
              <c:f>Sheet1!$C$1</c:f>
              <c:strCache>
                <c:ptCount val="1"/>
                <c:pt idx="0">
                  <c:v>With full contract package</c:v>
                </c:pt>
              </c:strCache>
            </c:strRef>
          </c:tx>
          <c:spPr>
            <a:solidFill>
              <a:srgbClr val="2F6DB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Sheet1!$A$2:$A$17</c:f>
              <c:multiLvlStrCache>
                <c:ptCount val="16"/>
                <c:lvl>
                  <c:pt idx="0">
                    <c:v>Apr-23</c:v>
                  </c:pt>
                  <c:pt idx="1">
                    <c:v>May-23</c:v>
                  </c:pt>
                  <c:pt idx="2">
                    <c:v>Jun-23</c:v>
                  </c:pt>
                  <c:pt idx="3">
                    <c:v>Jul-23</c:v>
                  </c:pt>
                  <c:pt idx="4">
                    <c:v>Aug-23</c:v>
                  </c:pt>
                  <c:pt idx="5">
                    <c:v>Sep-23</c:v>
                  </c:pt>
                  <c:pt idx="6">
                    <c:v>Nov-23</c:v>
                  </c:pt>
                  <c:pt idx="7">
                    <c:v>Dec-23</c:v>
                  </c:pt>
                  <c:pt idx="8">
                    <c:v>Jan-24</c:v>
                  </c:pt>
                  <c:pt idx="9">
                    <c:v>Feb-24</c:v>
                  </c:pt>
                  <c:pt idx="10">
                    <c:v>Mar-24</c:v>
                  </c:pt>
                  <c:pt idx="11">
                    <c:v>Apr-24</c:v>
                  </c:pt>
                  <c:pt idx="12">
                    <c:v>May-24</c:v>
                  </c:pt>
                  <c:pt idx="13">
                    <c:v>Jul-24</c:v>
                  </c:pt>
                  <c:pt idx="14">
                    <c:v>Sep-24</c:v>
                  </c:pt>
                  <c:pt idx="15">
                    <c:v>Oct-24</c:v>
                  </c:pt>
                </c:lvl>
              </c:multiLvlStrCache>
            </c:multiLvlStrRef>
          </c:cat>
          <c:val>
            <c:numRef>
              <c:f>Sheet1!$C$2:$C$17</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500</c:v>
                </c:pt>
                <c:pt idx="12">
                  <c:v>0</c:v>
                </c:pt>
                <c:pt idx="13">
                  <c:v>0</c:v>
                </c:pt>
                <c:pt idx="14">
                  <c:v>0</c:v>
                </c:pt>
                <c:pt idx="15">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pagi/siang. Presentasi ini menyajikan hasil investigasi kami atas PT Everest Selera Muda, perusahaan franchise F&amp;B. Tiga angka di layar merangkum ceritanya: perusahaan menerima fee franchise Rp26,93 miliar, mengeluarkan Rp20,08 miliar lewat 37 pembayaran, dan Rp13,5 miliar dari pengeluaran itu mengalir ke satu pihak saja. Judul kami "Where Did the Cash Go?" karena itulah pertanyaan Presiden Direktur. Kami akan berjalan dari mandat, metode, temuan, kesimpulan, sampai rekomendasi.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Booklet meminta kami menjawab sembilan pertanyaan, yang kami kelompokkan menjadi lima deliverable. Pertama red flag, lalu analisis transaksi yang mencakup rekonsiliasi fee, pemilihan transaksi berisiko, dan penelusuran dana. Ketiga penilaian bukti, termasuk konflik kepentingan. Keempat kesimpulan yang harus memisahkan suspected fraud, legitimate, dan unresolved. Terakhir rekomendasi. Penting: manajemen tidak menyebut angka fraud atau pelaku, jadi kami bekerja objektif. Prinsip booklet yang kami pegang: nominal besar bukan bukti fraud, approval bukan bukti sah, dan satu data yang cocok bukan bukti related party.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yang kami terima tersebar di enam sheet. Temuan pentingnya: sheet Outgoing tidak memuat nominal. Nominal baru muncul setelah kami menggabungkannya dengan Transaction Evidence lewat Transaction ID, lalu dengan Payment Approval lewat Reference. Semua 37 baris berhasil digabung tanpa sisa, dan nominal di Evidence sama dengan di Approval. Di sisi penerimaan, Register, Agreement, dan Incoming digabung lewat Agreement ID. Kami juga menambahkan data pembanding dari booklet: master vendor dan log perubahan rekening bank. Semua analisis kami buat dengan formula di workbook, sehingga bisa ditelusuri.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adalah tie-out matematis, dan hasilnya bersih untuk sisi penerimaan. Total fee di Register Rp26,93 miliar sama persis dengan total di Agreement dan total penerimaan bank. Nominal, rekening tujuan, dan nama pengirim cocok untuk seluruh 40 perjanjian, tanpa selisih. Sepuluh dari sepuluh pengecekan kami berstatus PASS. Artinya, kebocoran tidak terjadi di sisi penerimaan fee. Sisi pengeluaran berbeda: total Rp20,08 miliar sama antara Evidence dan Approval, jadi angkanya konsisten, tetapi masalahnya ada di isi dan pendukung transaksinya, yang kami bahas di halaman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Walaupun nominal cocok, tanggalnya menarik. Dari 40 penerimaan, hanya 3 yang tepat waktu. Dua puluh satu penerimaan tercatat sebelum tanggal perjanjian, misalnya perjanjian AGR-021 tertanggal 13 September 2024 tetapi uangnya tercatat masuk 10 Januari 2024; selisih terbesar 299 hari. Enam belas lainnya terlambat dari jatuh tempo, sampai 223 hari, padahal Register menandai semuanya Paid in Full. Kami tidak menyimpulkan fraud dari sini. Ini bisa salah pencatatan tanggal, uang muka, atau pola pencatatan yang perlu dikonfirmasi ke bank dan mitra. Jadi ini investigation point, bukan kesimpulan.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inti analisis pengeluaran. Kami mengklasifikasikan 37 pembayaran berdasarkan kelengkapan dokumen dan penerima. Hanya sembilan pembayaran, Rp2,0 miliar atau sekitar 10 persen, yang punya paket lengkap: kontrak, PO, invoice, laporan kerja, bukti terima, dan persetujuan Direksi. Lima belas pembayaran ke Rinjani Niaga Sentosa, Rp13,0 miliar atau 65 persen, hanya didukung permintaan pembayaran, bukti transfer, dan email internal. Itu kategori suspected fraud. Dua belas pembayaran vendor lain dengan dokumen parsial, Rp4,58 miliar, plus satu pembayaran Rinjani yang punya kontrak, Rp0,5 miliar, kami kategorikan unresolved. Totalnya cocok dengan Rp20,08 miliar.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telusuri ke mana dana mengalir. Dari sepuluh penerima, PT Rinjani Niaga Sentosa, kita singkat RNS, menerima 16 pembayaran senilai Rp13,5 miliar, atau 67 persen dari seluruh pengeluaran. Penerima terbesar berikutnya hanya Rp1,15 miliar. Konsentrasi ini kontras dengan sembilan vendor lain yang masing-masing menerima kurang dari 6 persen. RNS juga hanya menggunakan satu rekening, sedangkan semua vendor lain memakai dua sampai empat rekening berbeda. Di akun ESM-BY-01, 82 persen dari seluruh pembayaran mengalir ke RNS. Konsentrasi saja bukan bukti fraud, tetapi bersama dokumen yang kosong ia menjadi sinyal utama.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aliran pembayaran ke RNS berdasarkan tanggal, dari April 2023 sampai Oktober 2024. Batang merah adalah lima belas pembayaran tanpa kontrak, PO, laporan kerja, atau bukti terima; hanya dasar Payment Request dan email internal. Satu batang biru, April 2024 senilai Rp500 juta, adalah satu-satunya yang punya kontrak lengkap, dan ini menarik karena nilainya lebih rendah dari yang lain. Deskripsinya generik, seperti expansion cost adjustment atau operational funds held in custody. Tujuh pembayaran berada di atau di atas Rp900 juta, banyak yang tepat di bawah Rp1 miliar seperti Rp975 juta. Semua diproses satu user yang sama. Kami belum punya approval matrix, jadi pola mendekati Rp1 miliar kami catat sebagai dugaan yang perlu diverifikasi.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Uji otorisasi menunjukkan kelemahan yang sangat serius. Dari 37 pembayaran, 30 dibuat, dicek, dan disetujui oleh user yang sama, USR-FIN-02, senilai Rp18,73 miliar. Ketujuh pembayaran lainnya dibuat user berbeda tetapi tetap dicek dan disetujui USR-FIN-02. Artinya semua 37 pembayaran melalui satu orang. Untuk RNS, seluruh 16 pembayaran berpola maker sama dengan checker dan approver. Booklet mengingatkan bahwa approval tidak otomatis berarti sah, dan di sini pun approval hanya formalitas. Catatan penting: kami belum menerima user master dan approval matrix, sehingga kami belum menyebut siapa USR-FIN-02 dan belum dapat menilai apakah ada pelanggaran batas kewenangan.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membandingkan penerima dengan master vendor dan log rekening dari booklet. Pertama, RNS berbeda dari vendor lain: ID-nya PTY-RNS, bukan format VND, ditangani Finance Administration, dan rekeningnya disiapkan Finance serta disetujui Finance Head, sedangkan vendor lain umumnya didaftarkan Vendor Management atau Procurement. Kedua, tujuh belas pembayaran, Rp5,23 miliar, dikirim ke rekening yang tidak ada di log; ini extract, jadi kami menyebutnya investigation point. Ketiga, nama Laut Jawa Tomasan di transaksi berbeda dengan Laut Jawa Kemasan di master. Keempat, Timor Properti terdaftar dengan PROP-001, tetapi yang dipakai VND-TP-01 dan TP-02. Kelima, alamat RNS di Kompleks Arunika Blok R 11. Kami belum membandingkannya dengan profil Pak Uranus karena dokumen EV-08 tidak kami miliki, dan satu kecocokan tidak cukup untuk menyimpulkan.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Penilaian bukti kami rangkum dalam tiga kelompok. Kelompok pertama, paket lengkap, sembilan transaksi vendor dengan kontrak, PO, invoice, laporan kerja, bukti terima, dan persetujuan Direksi. Ini konsisten dengan aktivitas bisnis normal. Kelompok kedua, dokumen parsial: hanya invoice, foto, atau email. Bukti ini menunjukkan adanya tagihan, tetapi belum membuktikan jasa atau barang benar-benar diterima, sehingga statusnya unresolved. Kelompok ketiga, RNS: hanya permintaan pembayaran dan email internal; tidak ada dasar kontrak, tidak ada bukti pekerjaan. Prinsip booklet jelas: keberadaan dokumen tidak otomatis membuktikan transaksi valid, dan approval bukan bukti sah. Karena itu kelompok kedua dan ketiga tidak bisa dianggap legitimate.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Berikut kesimpulan kami. Suspected fraud: lima belas pembayaran ke RNS senilai Rp13,0 miliar, karena tidak ada dasar komersial, deskripsi generik, disetujui sendiri oleh satu user, dan vendor serta rekeningnya disiapkan oleh Finance. Kami menegaskan bahwa kami belum menyimpulkan siapa pelakunya. Unresolved: tiga belas pembayaran senilai Rp5,08 miliar, yaitu dua belas vendor dengan dokumen parsial dan satu pembayaran RNS berkontrak; perlu konfirmasi vendor dan dokumen tambahan. Legitimate sementara: sembilan pembayaran Rp2,0 miliar dengan paket lengkap, dengan syarat rekening tujuan dikonfirmasi. Untuk penerimaan fee, nominal seluruhnya cocok. Terakhir, hubungan related party masih unresolved karena bukti EV-07 dan EV-08 belum kami terima.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Terakhir, akar masalah dan rekomendasi. Ada empat kelemahan. Pertama, tidak ada pemisahan tugas, satu orang bisa membuat, memeriksa, dan menyetujui. Kedua, approval berjalan tanpa dasar dokumen. Ketiga, master vendor dan rekening bank dikelola Finance sendiri tanpa kontrol independen. Keempat, tidak ada monitoring: status Paid in Full mengabaikan keterlambatan dan tidak ada analisis konsentrasi pembayaran. Rekomendasi kami: paksa pemisahan maker, checker, dan approver di sistem dengan persetujuan berjenjang; wajibkan three-way match sebelum pembayaran; pindahkan onboarding vendor dan perubahan rekening ke fungsi independen dengan verifikasi callback; terapkan deklarasi benturan kepentingan dan screening data karyawan; serta lakukan rekonsiliasi dan analitik bulanan. Langkah berikutnya adalah meminta user master, approval matrix, dokumen EV-01 sampai EV-08, dan rekening koran 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penutup: fakta-faktanya sudah kuat. Penerimaan fee bersih, sedangkan lima belas pembayaran senilai Rp13,0 miliar ke satu pihak tidak punya dasar komersial, dan seluruh rantai persetujuan dikuasai satu user. Yang belum terjawab adalah siapa yang diuntungkan, dan itu sengaja tidak kami simpulkan karena bukti hubungan afiliasi belum lengkap. Dengan dokumen tambahan yang kami minta, pertanyaan itu bisa dituntaskan. Terima kasih. Kami siap menerima pertanyaan.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731520" y="731520"/>
            <a:ext cx="10058400" cy="365760"/>
          </a:xfrm>
          <a:prstGeom prst="rect">
            <a:avLst/>
          </a:prstGeom>
          <a:noFill/>
          <a:ln/>
        </p:spPr>
        <p:txBody>
          <a:bodyPr wrap="square" lIns="0" tIns="0" rIns="0" bIns="0" rtlCol="0" anchor="ctr"/>
          <a:lstStyle/>
          <a:p>
            <a:pPr indent="0" marL="0">
              <a:buNone/>
            </a:pPr>
            <a:r>
              <a:rPr lang="en-US" sz="1400" b="1" spc="200" kern="0" dirty="0">
                <a:solidFill>
                  <a:srgbClr val="F2A541"/>
                </a:solidFill>
                <a:latin typeface="Calibri" pitchFamily="34" charset="0"/>
                <a:ea typeface="Calibri" pitchFamily="34" charset="-122"/>
                <a:cs typeface="Calibri" pitchFamily="34" charset="-120"/>
              </a:rPr>
              <a:t>CPA DAYS 2026 | AUDIT &amp; ACCOUNTING COMPETITION</a:t>
            </a:r>
            <a:endParaRPr lang="en-US" sz="1400" dirty="0"/>
          </a:p>
        </p:txBody>
      </p:sp>
      <p:sp>
        <p:nvSpPr>
          <p:cNvPr id="3" name="Text 1"/>
          <p:cNvSpPr txBox="1"/>
          <p:nvPr/>
        </p:nvSpPr>
        <p:spPr>
          <a:xfrm>
            <a:off x="731520" y="1828800"/>
            <a:ext cx="1051560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Where Did the Cash Go?</a:t>
            </a:r>
            <a:endParaRPr lang="en-US" sz="5400" dirty="0"/>
          </a:p>
        </p:txBody>
      </p:sp>
      <p:sp>
        <p:nvSpPr>
          <p:cNvPr id="4" name="Text 2"/>
          <p:cNvSpPr txBox="1"/>
          <p:nvPr/>
        </p:nvSpPr>
        <p:spPr>
          <a:xfrm>
            <a:off x="731520" y="3108960"/>
            <a:ext cx="8686800" cy="9144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Fraud investigation of PT Everest Selera Muda: franchise receipts, disbursements, authorization and evidence</a:t>
            </a:r>
            <a:endParaRPr lang="en-US" sz="2200" dirty="0"/>
          </a:p>
        </p:txBody>
      </p:sp>
      <p:sp>
        <p:nvSpPr>
          <p:cNvPr id="5" name="Shape 3"/>
          <p:cNvSpPr/>
          <p:nvPr/>
        </p:nvSpPr>
        <p:spPr>
          <a:xfrm>
            <a:off x="731520" y="4754880"/>
            <a:ext cx="3383280" cy="1188720"/>
          </a:xfrm>
          <a:prstGeom prst="roundRect">
            <a:avLst>
              <a:gd name="adj" fmla="val 9231"/>
            </a:avLst>
          </a:prstGeom>
          <a:solidFill>
            <a:srgbClr val="16305A"/>
          </a:solidFill>
          <a:ln w="12700">
            <a:solidFill>
              <a:srgbClr val="16305A"/>
            </a:solidFill>
            <a:prstDash val="solid"/>
          </a:ln>
        </p:spPr>
      </p:sp>
      <p:sp>
        <p:nvSpPr>
          <p:cNvPr id="6" name="Text 4"/>
          <p:cNvSpPr txBox="1"/>
          <p:nvPr/>
        </p:nvSpPr>
        <p:spPr>
          <a:xfrm>
            <a:off x="914400" y="4846320"/>
            <a:ext cx="301752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IDR 26.93bn</a:t>
            </a:r>
            <a:endParaRPr lang="en-US" sz="2800" dirty="0"/>
          </a:p>
        </p:txBody>
      </p:sp>
      <p:sp>
        <p:nvSpPr>
          <p:cNvPr id="7" name="Text 5"/>
          <p:cNvSpPr txBox="1"/>
          <p:nvPr/>
        </p:nvSpPr>
        <p:spPr>
          <a:xfrm>
            <a:off x="914400" y="5440680"/>
            <a:ext cx="301752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franchise fees collected</a:t>
            </a:r>
            <a:endParaRPr lang="en-US" sz="1400" dirty="0"/>
          </a:p>
        </p:txBody>
      </p:sp>
      <p:sp>
        <p:nvSpPr>
          <p:cNvPr id="8" name="Shape 6"/>
          <p:cNvSpPr/>
          <p:nvPr/>
        </p:nvSpPr>
        <p:spPr>
          <a:xfrm>
            <a:off x="4389120" y="4754880"/>
            <a:ext cx="3383280" cy="1188720"/>
          </a:xfrm>
          <a:prstGeom prst="roundRect">
            <a:avLst>
              <a:gd name="adj" fmla="val 9231"/>
            </a:avLst>
          </a:prstGeom>
          <a:solidFill>
            <a:srgbClr val="16305A"/>
          </a:solidFill>
          <a:ln w="12700">
            <a:solidFill>
              <a:srgbClr val="16305A"/>
            </a:solidFill>
            <a:prstDash val="solid"/>
          </a:ln>
        </p:spPr>
      </p:sp>
      <p:sp>
        <p:nvSpPr>
          <p:cNvPr id="9" name="Text 7"/>
          <p:cNvSpPr txBox="1"/>
          <p:nvPr/>
        </p:nvSpPr>
        <p:spPr>
          <a:xfrm>
            <a:off x="4572000" y="4846320"/>
            <a:ext cx="301752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IDR 20.08bn</a:t>
            </a:r>
            <a:endParaRPr lang="en-US" sz="2800" dirty="0"/>
          </a:p>
        </p:txBody>
      </p:sp>
      <p:sp>
        <p:nvSpPr>
          <p:cNvPr id="10" name="Text 8"/>
          <p:cNvSpPr txBox="1"/>
          <p:nvPr/>
        </p:nvSpPr>
        <p:spPr>
          <a:xfrm>
            <a:off x="4572000" y="5440680"/>
            <a:ext cx="301752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paid out (37 payments)</a:t>
            </a:r>
            <a:endParaRPr lang="en-US" sz="1400" dirty="0"/>
          </a:p>
        </p:txBody>
      </p:sp>
      <p:sp>
        <p:nvSpPr>
          <p:cNvPr id="11" name="Shape 9"/>
          <p:cNvSpPr/>
          <p:nvPr/>
        </p:nvSpPr>
        <p:spPr>
          <a:xfrm>
            <a:off x="8046720" y="4754880"/>
            <a:ext cx="3383280" cy="1188720"/>
          </a:xfrm>
          <a:prstGeom prst="roundRect">
            <a:avLst>
              <a:gd name="adj" fmla="val 9231"/>
            </a:avLst>
          </a:prstGeom>
          <a:solidFill>
            <a:srgbClr val="16305A"/>
          </a:solidFill>
          <a:ln w="12700">
            <a:solidFill>
              <a:srgbClr val="16305A"/>
            </a:solidFill>
            <a:prstDash val="solid"/>
          </a:ln>
        </p:spPr>
      </p:sp>
      <p:sp>
        <p:nvSpPr>
          <p:cNvPr id="12" name="Text 10"/>
          <p:cNvSpPr txBox="1"/>
          <p:nvPr/>
        </p:nvSpPr>
        <p:spPr>
          <a:xfrm>
            <a:off x="8229600" y="4846320"/>
            <a:ext cx="3017520" cy="640080"/>
          </a:xfrm>
          <a:prstGeom prst="rect">
            <a:avLst/>
          </a:prstGeom>
          <a:noFill/>
          <a:ln/>
        </p:spPr>
        <p:txBody>
          <a:bodyPr wrap="square" lIns="0" tIns="0" rIns="0" bIns="0" rtlCol="0" anchor="ctr"/>
          <a:lstStyle/>
          <a:p>
            <a:pPr indent="0" marL="0">
              <a:buNone/>
            </a:pPr>
            <a:r>
              <a:rPr lang="en-US" sz="2800" b="1" dirty="0">
                <a:solidFill>
                  <a:srgbClr val="F2A541"/>
                </a:solidFill>
                <a:latin typeface="Cambria" pitchFamily="34" charset="0"/>
                <a:ea typeface="Cambria" pitchFamily="34" charset="-122"/>
                <a:cs typeface="Cambria" pitchFamily="34" charset="-120"/>
              </a:rPr>
              <a:t>IDR 13.5bn</a:t>
            </a:r>
            <a:endParaRPr lang="en-US" sz="2800" dirty="0"/>
          </a:p>
        </p:txBody>
      </p:sp>
      <p:sp>
        <p:nvSpPr>
          <p:cNvPr id="13" name="Text 11"/>
          <p:cNvSpPr txBox="1"/>
          <p:nvPr/>
        </p:nvSpPr>
        <p:spPr>
          <a:xfrm>
            <a:off x="8229600" y="5440680"/>
            <a:ext cx="301752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to one counterparty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CASE &amp; SCOPE</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The mandate: 9 questions, 5 deliverables</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ESM Fraud Investigation | CPA Days 2026</a:t>
            </a:r>
            <a:endParaRPr lang="en-US" sz="1000" dirty="0"/>
          </a:p>
        </p:txBody>
      </p:sp>
      <p:sp>
        <p:nvSpPr>
          <p:cNvPr id="6" name="Shape 3"/>
          <p:cNvSpPr/>
          <p:nvPr/>
        </p:nvSpPr>
        <p:spPr>
          <a:xfrm>
            <a:off x="548640" y="1691640"/>
            <a:ext cx="6035040" cy="731520"/>
          </a:xfrm>
          <a:prstGeom prst="roundRect">
            <a:avLst>
              <a:gd name="adj" fmla="val 15000"/>
            </a:avLst>
          </a:prstGeom>
          <a:solidFill>
            <a:srgbClr val="F3F5F9"/>
          </a:solidFill>
          <a:ln w="12700">
            <a:solidFill>
              <a:srgbClr val="F3F5F9"/>
            </a:solidFill>
            <a:prstDash val="solid"/>
          </a:ln>
        </p:spPr>
      </p:sp>
      <p:sp>
        <p:nvSpPr>
          <p:cNvPr id="7" name="Shape 4"/>
          <p:cNvSpPr/>
          <p:nvPr/>
        </p:nvSpPr>
        <p:spPr>
          <a:xfrm>
            <a:off x="731520" y="1819656"/>
            <a:ext cx="475488" cy="475488"/>
          </a:xfrm>
          <a:prstGeom prst="ellipse">
            <a:avLst/>
          </a:prstGeom>
          <a:solidFill>
            <a:srgbClr val="0B1F3A"/>
          </a:solidFill>
          <a:ln w="12700">
            <a:solidFill>
              <a:srgbClr val="0B1F3A"/>
            </a:solidFill>
            <a:prstDash val="solid"/>
          </a:ln>
        </p:spPr>
      </p:sp>
      <p:sp>
        <p:nvSpPr>
          <p:cNvPr id="8" name="Text 5"/>
          <p:cNvSpPr txBox="1"/>
          <p:nvPr/>
        </p:nvSpPr>
        <p:spPr>
          <a:xfrm>
            <a:off x="731520" y="181965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6"/>
          <p:cNvSpPr txBox="1"/>
          <p:nvPr/>
        </p:nvSpPr>
        <p:spPr>
          <a:xfrm>
            <a:off x="1417320" y="1691640"/>
            <a:ext cx="3291840" cy="731520"/>
          </a:xfrm>
          <a:prstGeom prst="rect">
            <a:avLst/>
          </a:prstGeom>
          <a:noFill/>
          <a:ln/>
        </p:spPr>
        <p:txBody>
          <a:bodyPr wrap="square" lIns="0" tIns="0" rIns="0" bIns="0"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Red Flag Analysis</a:t>
            </a:r>
            <a:endParaRPr lang="en-US" sz="1800" dirty="0"/>
          </a:p>
        </p:txBody>
      </p:sp>
      <p:sp>
        <p:nvSpPr>
          <p:cNvPr id="10" name="Text 7"/>
          <p:cNvSpPr txBox="1"/>
          <p:nvPr/>
        </p:nvSpPr>
        <p:spPr>
          <a:xfrm>
            <a:off x="4754880" y="1691640"/>
            <a:ext cx="1737360" cy="731520"/>
          </a:xfrm>
          <a:prstGeom prst="rect">
            <a:avLst/>
          </a:prstGeom>
          <a:noFill/>
          <a:ln/>
        </p:spPr>
        <p:txBody>
          <a:bodyPr wrap="square" lIns="0" tIns="0" rIns="0" bIns="0" rtlCol="0" anchor="ctr"/>
          <a:lstStyle/>
          <a:p>
            <a:pPr algn="r" indent="0" marL="0">
              <a:buNone/>
            </a:pPr>
            <a:r>
              <a:rPr lang="en-US" sz="1400" dirty="0">
                <a:solidFill>
                  <a:srgbClr val="6B7785"/>
                </a:solidFill>
                <a:latin typeface="Calibri" pitchFamily="34" charset="0"/>
                <a:ea typeface="Calibri" pitchFamily="34" charset="-122"/>
                <a:cs typeface="Calibri" pitchFamily="34" charset="-120"/>
              </a:rPr>
              <a:t>Q1</a:t>
            </a:r>
            <a:endParaRPr lang="en-US" sz="1400" dirty="0"/>
          </a:p>
        </p:txBody>
      </p:sp>
      <p:sp>
        <p:nvSpPr>
          <p:cNvPr id="11" name="Shape 8"/>
          <p:cNvSpPr/>
          <p:nvPr/>
        </p:nvSpPr>
        <p:spPr>
          <a:xfrm>
            <a:off x="548640" y="2560320"/>
            <a:ext cx="6035040" cy="731520"/>
          </a:xfrm>
          <a:prstGeom prst="roundRect">
            <a:avLst>
              <a:gd name="adj" fmla="val 15000"/>
            </a:avLst>
          </a:prstGeom>
          <a:solidFill>
            <a:srgbClr val="F3F5F9"/>
          </a:solidFill>
          <a:ln w="12700">
            <a:solidFill>
              <a:srgbClr val="F3F5F9"/>
            </a:solidFill>
            <a:prstDash val="solid"/>
          </a:ln>
        </p:spPr>
      </p:sp>
      <p:sp>
        <p:nvSpPr>
          <p:cNvPr id="12" name="Shape 9"/>
          <p:cNvSpPr/>
          <p:nvPr/>
        </p:nvSpPr>
        <p:spPr>
          <a:xfrm>
            <a:off x="731520" y="2688336"/>
            <a:ext cx="475488" cy="475488"/>
          </a:xfrm>
          <a:prstGeom prst="ellipse">
            <a:avLst/>
          </a:prstGeom>
          <a:solidFill>
            <a:srgbClr val="0B1F3A"/>
          </a:solidFill>
          <a:ln w="12700">
            <a:solidFill>
              <a:srgbClr val="0B1F3A"/>
            </a:solidFill>
            <a:prstDash val="solid"/>
          </a:ln>
        </p:spPr>
      </p:sp>
      <p:sp>
        <p:nvSpPr>
          <p:cNvPr id="13" name="Text 10"/>
          <p:cNvSpPr txBox="1"/>
          <p:nvPr/>
        </p:nvSpPr>
        <p:spPr>
          <a:xfrm>
            <a:off x="731520" y="268833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1"/>
          <p:cNvSpPr txBox="1"/>
          <p:nvPr/>
        </p:nvSpPr>
        <p:spPr>
          <a:xfrm>
            <a:off x="1417320" y="2560320"/>
            <a:ext cx="3291840" cy="731520"/>
          </a:xfrm>
          <a:prstGeom prst="rect">
            <a:avLst/>
          </a:prstGeom>
          <a:noFill/>
          <a:ln/>
        </p:spPr>
        <p:txBody>
          <a:bodyPr wrap="square" lIns="0" tIns="0" rIns="0" bIns="0"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Transaction Analysis</a:t>
            </a:r>
            <a:endParaRPr lang="en-US" sz="1800" dirty="0"/>
          </a:p>
        </p:txBody>
      </p:sp>
      <p:sp>
        <p:nvSpPr>
          <p:cNvPr id="15" name="Text 12"/>
          <p:cNvSpPr txBox="1"/>
          <p:nvPr/>
        </p:nvSpPr>
        <p:spPr>
          <a:xfrm>
            <a:off x="4754880" y="2560320"/>
            <a:ext cx="1737360" cy="731520"/>
          </a:xfrm>
          <a:prstGeom prst="rect">
            <a:avLst/>
          </a:prstGeom>
          <a:noFill/>
          <a:ln/>
        </p:spPr>
        <p:txBody>
          <a:bodyPr wrap="square" lIns="0" tIns="0" rIns="0" bIns="0" rtlCol="0" anchor="ctr"/>
          <a:lstStyle/>
          <a:p>
            <a:pPr algn="r" indent="0" marL="0">
              <a:buNone/>
            </a:pPr>
            <a:r>
              <a:rPr lang="en-US" sz="1400" dirty="0">
                <a:solidFill>
                  <a:srgbClr val="6B7785"/>
                </a:solidFill>
                <a:latin typeface="Calibri" pitchFamily="34" charset="0"/>
                <a:ea typeface="Calibri" pitchFamily="34" charset="-122"/>
                <a:cs typeface="Calibri" pitchFamily="34" charset="-120"/>
              </a:rPr>
              <a:t>Q2 Q3 Q4</a:t>
            </a:r>
            <a:endParaRPr lang="en-US" sz="1400" dirty="0"/>
          </a:p>
        </p:txBody>
      </p:sp>
      <p:sp>
        <p:nvSpPr>
          <p:cNvPr id="16" name="Shape 13"/>
          <p:cNvSpPr/>
          <p:nvPr/>
        </p:nvSpPr>
        <p:spPr>
          <a:xfrm>
            <a:off x="548640" y="3429000"/>
            <a:ext cx="6035040" cy="731520"/>
          </a:xfrm>
          <a:prstGeom prst="roundRect">
            <a:avLst>
              <a:gd name="adj" fmla="val 15000"/>
            </a:avLst>
          </a:prstGeom>
          <a:solidFill>
            <a:srgbClr val="F3F5F9"/>
          </a:solidFill>
          <a:ln w="12700">
            <a:solidFill>
              <a:srgbClr val="F3F5F9"/>
            </a:solidFill>
            <a:prstDash val="solid"/>
          </a:ln>
        </p:spPr>
      </p:sp>
      <p:sp>
        <p:nvSpPr>
          <p:cNvPr id="17" name="Shape 14"/>
          <p:cNvSpPr/>
          <p:nvPr/>
        </p:nvSpPr>
        <p:spPr>
          <a:xfrm>
            <a:off x="731520" y="3557016"/>
            <a:ext cx="475488" cy="475488"/>
          </a:xfrm>
          <a:prstGeom prst="ellipse">
            <a:avLst/>
          </a:prstGeom>
          <a:solidFill>
            <a:srgbClr val="0B1F3A"/>
          </a:solidFill>
          <a:ln w="12700">
            <a:solidFill>
              <a:srgbClr val="0B1F3A"/>
            </a:solidFill>
            <a:prstDash val="solid"/>
          </a:ln>
        </p:spPr>
      </p:sp>
      <p:sp>
        <p:nvSpPr>
          <p:cNvPr id="18" name="Text 15"/>
          <p:cNvSpPr txBox="1"/>
          <p:nvPr/>
        </p:nvSpPr>
        <p:spPr>
          <a:xfrm>
            <a:off x="731520" y="355701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6"/>
          <p:cNvSpPr txBox="1"/>
          <p:nvPr/>
        </p:nvSpPr>
        <p:spPr>
          <a:xfrm>
            <a:off x="1417320" y="3429000"/>
            <a:ext cx="3291840" cy="731520"/>
          </a:xfrm>
          <a:prstGeom prst="rect">
            <a:avLst/>
          </a:prstGeom>
          <a:noFill/>
          <a:ln/>
        </p:spPr>
        <p:txBody>
          <a:bodyPr wrap="square" lIns="0" tIns="0" rIns="0" bIns="0"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Evidence Assessment</a:t>
            </a:r>
            <a:endParaRPr lang="en-US" sz="1800" dirty="0"/>
          </a:p>
        </p:txBody>
      </p:sp>
      <p:sp>
        <p:nvSpPr>
          <p:cNvPr id="20" name="Text 17"/>
          <p:cNvSpPr txBox="1"/>
          <p:nvPr/>
        </p:nvSpPr>
        <p:spPr>
          <a:xfrm>
            <a:off x="4754880" y="3429000"/>
            <a:ext cx="1737360" cy="731520"/>
          </a:xfrm>
          <a:prstGeom prst="rect">
            <a:avLst/>
          </a:prstGeom>
          <a:noFill/>
          <a:ln/>
        </p:spPr>
        <p:txBody>
          <a:bodyPr wrap="square" lIns="0" tIns="0" rIns="0" bIns="0" rtlCol="0" anchor="ctr"/>
          <a:lstStyle/>
          <a:p>
            <a:pPr algn="r" indent="0" marL="0">
              <a:buNone/>
            </a:pPr>
            <a:r>
              <a:rPr lang="en-US" sz="1400" dirty="0">
                <a:solidFill>
                  <a:srgbClr val="6B7785"/>
                </a:solidFill>
                <a:latin typeface="Calibri" pitchFamily="34" charset="0"/>
                <a:ea typeface="Calibri" pitchFamily="34" charset="-122"/>
                <a:cs typeface="Calibri" pitchFamily="34" charset="-120"/>
              </a:rPr>
              <a:t>Q5 Q6</a:t>
            </a:r>
            <a:endParaRPr lang="en-US" sz="1400" dirty="0"/>
          </a:p>
        </p:txBody>
      </p:sp>
      <p:sp>
        <p:nvSpPr>
          <p:cNvPr id="21" name="Shape 18"/>
          <p:cNvSpPr/>
          <p:nvPr/>
        </p:nvSpPr>
        <p:spPr>
          <a:xfrm>
            <a:off x="548640" y="4297680"/>
            <a:ext cx="6035040" cy="731520"/>
          </a:xfrm>
          <a:prstGeom prst="roundRect">
            <a:avLst>
              <a:gd name="adj" fmla="val 15000"/>
            </a:avLst>
          </a:prstGeom>
          <a:solidFill>
            <a:srgbClr val="F3F5F9"/>
          </a:solidFill>
          <a:ln w="12700">
            <a:solidFill>
              <a:srgbClr val="F3F5F9"/>
            </a:solidFill>
            <a:prstDash val="solid"/>
          </a:ln>
        </p:spPr>
      </p:sp>
      <p:sp>
        <p:nvSpPr>
          <p:cNvPr id="22" name="Shape 19"/>
          <p:cNvSpPr/>
          <p:nvPr/>
        </p:nvSpPr>
        <p:spPr>
          <a:xfrm>
            <a:off x="731520" y="4425696"/>
            <a:ext cx="475488" cy="475488"/>
          </a:xfrm>
          <a:prstGeom prst="ellipse">
            <a:avLst/>
          </a:prstGeom>
          <a:solidFill>
            <a:srgbClr val="0B1F3A"/>
          </a:solidFill>
          <a:ln w="12700">
            <a:solidFill>
              <a:srgbClr val="0B1F3A"/>
            </a:solidFill>
            <a:prstDash val="solid"/>
          </a:ln>
        </p:spPr>
      </p:sp>
      <p:sp>
        <p:nvSpPr>
          <p:cNvPr id="23" name="Text 20"/>
          <p:cNvSpPr txBox="1"/>
          <p:nvPr/>
        </p:nvSpPr>
        <p:spPr>
          <a:xfrm>
            <a:off x="731520" y="442569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1"/>
          <p:cNvSpPr txBox="1"/>
          <p:nvPr/>
        </p:nvSpPr>
        <p:spPr>
          <a:xfrm>
            <a:off x="1417320" y="4297680"/>
            <a:ext cx="3291840" cy="731520"/>
          </a:xfrm>
          <a:prstGeom prst="rect">
            <a:avLst/>
          </a:prstGeom>
          <a:noFill/>
          <a:ln/>
        </p:spPr>
        <p:txBody>
          <a:bodyPr wrap="square" lIns="0" tIns="0" rIns="0" bIns="0"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Conclusion</a:t>
            </a:r>
            <a:endParaRPr lang="en-US" sz="1800" dirty="0"/>
          </a:p>
        </p:txBody>
      </p:sp>
      <p:sp>
        <p:nvSpPr>
          <p:cNvPr id="25" name="Text 22"/>
          <p:cNvSpPr txBox="1"/>
          <p:nvPr/>
        </p:nvSpPr>
        <p:spPr>
          <a:xfrm>
            <a:off x="4754880" y="4297680"/>
            <a:ext cx="1737360" cy="731520"/>
          </a:xfrm>
          <a:prstGeom prst="rect">
            <a:avLst/>
          </a:prstGeom>
          <a:noFill/>
          <a:ln/>
        </p:spPr>
        <p:txBody>
          <a:bodyPr wrap="square" lIns="0" tIns="0" rIns="0" bIns="0" rtlCol="0" anchor="ctr"/>
          <a:lstStyle/>
          <a:p>
            <a:pPr algn="r" indent="0" marL="0">
              <a:buNone/>
            </a:pPr>
            <a:r>
              <a:rPr lang="en-US" sz="1400" dirty="0">
                <a:solidFill>
                  <a:srgbClr val="6B7785"/>
                </a:solidFill>
                <a:latin typeface="Calibri" pitchFamily="34" charset="0"/>
                <a:ea typeface="Calibri" pitchFamily="34" charset="-122"/>
                <a:cs typeface="Calibri" pitchFamily="34" charset="-120"/>
              </a:rPr>
              <a:t>Q7</a:t>
            </a:r>
            <a:endParaRPr lang="en-US" sz="1400" dirty="0"/>
          </a:p>
        </p:txBody>
      </p:sp>
      <p:sp>
        <p:nvSpPr>
          <p:cNvPr id="26" name="Shape 23"/>
          <p:cNvSpPr/>
          <p:nvPr/>
        </p:nvSpPr>
        <p:spPr>
          <a:xfrm>
            <a:off x="548640" y="5166360"/>
            <a:ext cx="6035040" cy="731520"/>
          </a:xfrm>
          <a:prstGeom prst="roundRect">
            <a:avLst>
              <a:gd name="adj" fmla="val 15000"/>
            </a:avLst>
          </a:prstGeom>
          <a:solidFill>
            <a:srgbClr val="F3F5F9"/>
          </a:solidFill>
          <a:ln w="12700">
            <a:solidFill>
              <a:srgbClr val="F3F5F9"/>
            </a:solidFill>
            <a:prstDash val="solid"/>
          </a:ln>
        </p:spPr>
      </p:sp>
      <p:sp>
        <p:nvSpPr>
          <p:cNvPr id="27" name="Shape 24"/>
          <p:cNvSpPr/>
          <p:nvPr/>
        </p:nvSpPr>
        <p:spPr>
          <a:xfrm>
            <a:off x="731520" y="5294376"/>
            <a:ext cx="475488" cy="475488"/>
          </a:xfrm>
          <a:prstGeom prst="ellipse">
            <a:avLst/>
          </a:prstGeom>
          <a:solidFill>
            <a:srgbClr val="0B1F3A"/>
          </a:solidFill>
          <a:ln w="12700">
            <a:solidFill>
              <a:srgbClr val="0B1F3A"/>
            </a:solidFill>
            <a:prstDash val="solid"/>
          </a:ln>
        </p:spPr>
      </p:sp>
      <p:sp>
        <p:nvSpPr>
          <p:cNvPr id="28" name="Text 25"/>
          <p:cNvSpPr txBox="1"/>
          <p:nvPr/>
        </p:nvSpPr>
        <p:spPr>
          <a:xfrm>
            <a:off x="731520" y="529437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9" name="Text 26"/>
          <p:cNvSpPr txBox="1"/>
          <p:nvPr/>
        </p:nvSpPr>
        <p:spPr>
          <a:xfrm>
            <a:off x="1417320" y="5166360"/>
            <a:ext cx="3291840" cy="731520"/>
          </a:xfrm>
          <a:prstGeom prst="rect">
            <a:avLst/>
          </a:prstGeom>
          <a:noFill/>
          <a:ln/>
        </p:spPr>
        <p:txBody>
          <a:bodyPr wrap="square" lIns="0" tIns="0" rIns="0" bIns="0"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Recommendations</a:t>
            </a:r>
            <a:endParaRPr lang="en-US" sz="1800" dirty="0"/>
          </a:p>
        </p:txBody>
      </p:sp>
      <p:sp>
        <p:nvSpPr>
          <p:cNvPr id="30" name="Text 27"/>
          <p:cNvSpPr txBox="1"/>
          <p:nvPr/>
        </p:nvSpPr>
        <p:spPr>
          <a:xfrm>
            <a:off x="4754880" y="5166360"/>
            <a:ext cx="1737360" cy="731520"/>
          </a:xfrm>
          <a:prstGeom prst="rect">
            <a:avLst/>
          </a:prstGeom>
          <a:noFill/>
          <a:ln/>
        </p:spPr>
        <p:txBody>
          <a:bodyPr wrap="square" lIns="0" tIns="0" rIns="0" bIns="0" rtlCol="0" anchor="ctr"/>
          <a:lstStyle/>
          <a:p>
            <a:pPr algn="r" indent="0" marL="0">
              <a:buNone/>
            </a:pPr>
            <a:r>
              <a:rPr lang="en-US" sz="1400" dirty="0">
                <a:solidFill>
                  <a:srgbClr val="6B7785"/>
                </a:solidFill>
                <a:latin typeface="Calibri" pitchFamily="34" charset="0"/>
                <a:ea typeface="Calibri" pitchFamily="34" charset="-122"/>
                <a:cs typeface="Calibri" pitchFamily="34" charset="-120"/>
              </a:rPr>
              <a:t>Q8 Q9</a:t>
            </a:r>
            <a:endParaRPr lang="en-US" sz="1400" dirty="0"/>
          </a:p>
        </p:txBody>
      </p:sp>
      <p:sp>
        <p:nvSpPr>
          <p:cNvPr id="31" name="Shape 28"/>
          <p:cNvSpPr/>
          <p:nvPr/>
        </p:nvSpPr>
        <p:spPr>
          <a:xfrm>
            <a:off x="7040880" y="1691640"/>
            <a:ext cx="4572000" cy="4206240"/>
          </a:xfrm>
          <a:prstGeom prst="roundRect">
            <a:avLst>
              <a:gd name="adj" fmla="val 2609"/>
            </a:avLst>
          </a:prstGeom>
          <a:solidFill>
            <a:srgbClr val="0B1F3A"/>
          </a:solidFill>
          <a:ln w="12700">
            <a:solidFill>
              <a:srgbClr val="0B1F3A"/>
            </a:solidFill>
            <a:prstDash val="solid"/>
          </a:ln>
        </p:spPr>
      </p:sp>
      <p:sp>
        <p:nvSpPr>
          <p:cNvPr id="32" name="Text 29"/>
          <p:cNvSpPr txBox="1"/>
          <p:nvPr/>
        </p:nvSpPr>
        <p:spPr>
          <a:xfrm>
            <a:off x="7315200" y="1874520"/>
            <a:ext cx="4023360" cy="365760"/>
          </a:xfrm>
          <a:prstGeom prst="rect">
            <a:avLst/>
          </a:prstGeom>
          <a:noFill/>
          <a:ln/>
        </p:spPr>
        <p:txBody>
          <a:bodyPr wrap="square" lIns="0" tIns="0" rIns="0" bIns="0" rtlCol="0" anchor="ctr"/>
          <a:lstStyle/>
          <a:p>
            <a:pPr indent="0" marL="0">
              <a:buNone/>
            </a:pPr>
            <a:r>
              <a:rPr lang="en-US" sz="2000" b="1" dirty="0">
                <a:solidFill>
                  <a:srgbClr val="F2A541"/>
                </a:solidFill>
                <a:latin typeface="Cambria" pitchFamily="34" charset="0"/>
                <a:ea typeface="Cambria" pitchFamily="34" charset="-122"/>
                <a:cs typeface="Cambria" pitchFamily="34" charset="-120"/>
              </a:rPr>
              <a:t>Ground rules we followed</a:t>
            </a:r>
            <a:endParaRPr lang="en-US" sz="2000" dirty="0"/>
          </a:p>
        </p:txBody>
      </p:sp>
      <p:sp>
        <p:nvSpPr>
          <p:cNvPr id="33" name="Text 30"/>
          <p:cNvSpPr txBox="1"/>
          <p:nvPr/>
        </p:nvSpPr>
        <p:spPr>
          <a:xfrm>
            <a:off x="7315200" y="2377440"/>
            <a:ext cx="402336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Size alone is not fraud</a:t>
            </a:r>
            <a:endParaRPr lang="en-US" sz="1600" dirty="0"/>
          </a:p>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An approval record is not proof of validity</a:t>
            </a:r>
            <a:endParaRPr lang="en-US" sz="1600" dirty="0"/>
          </a:p>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One matching data point does not prove a related party</a:t>
            </a:r>
            <a:endParaRPr lang="en-US" sz="1600" dirty="0"/>
          </a:p>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Unresolved is not the same as proven fraud</a:t>
            </a:r>
            <a:endParaRPr lang="en-US" sz="1600" dirty="0"/>
          </a:p>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Keep an evidence trail for every conclusion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APPROACH</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Six datasets, joined on three keys</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ESM Fraud Investigation | CPA Days 2026</a:t>
            </a:r>
            <a:endParaRPr lang="en-US" sz="1000" dirty="0"/>
          </a:p>
        </p:txBody>
      </p:sp>
      <p:sp>
        <p:nvSpPr>
          <p:cNvPr id="6" name="Text 3"/>
          <p:cNvSpPr txBox="1"/>
          <p:nvPr/>
        </p:nvSpPr>
        <p:spPr>
          <a:xfrm>
            <a:off x="548640" y="1645920"/>
            <a:ext cx="3657600" cy="274320"/>
          </a:xfrm>
          <a:prstGeom prst="rect">
            <a:avLst/>
          </a:prstGeom>
          <a:noFill/>
          <a:ln/>
        </p:spPr>
        <p:txBody>
          <a:bodyPr wrap="square" lIns="0" tIns="0" rIns="0" bIns="0" rtlCol="0" anchor="ctr"/>
          <a:lstStyle/>
          <a:p>
            <a:pPr indent="0" marL="0">
              <a:buNone/>
            </a:pPr>
            <a:r>
              <a:rPr lang="en-US" sz="1200" b="1" dirty="0">
                <a:solidFill>
                  <a:srgbClr val="6B7785"/>
                </a:solidFill>
                <a:latin typeface="Calibri" pitchFamily="34" charset="0"/>
                <a:ea typeface="Calibri" pitchFamily="34" charset="-122"/>
                <a:cs typeface="Calibri" pitchFamily="34" charset="-120"/>
              </a:rPr>
              <a:t>RECEIPTS</a:t>
            </a:r>
            <a:endParaRPr lang="en-US" sz="1200" dirty="0"/>
          </a:p>
        </p:txBody>
      </p:sp>
      <p:sp>
        <p:nvSpPr>
          <p:cNvPr id="7" name="Shape 4"/>
          <p:cNvSpPr/>
          <p:nvPr/>
        </p:nvSpPr>
        <p:spPr>
          <a:xfrm>
            <a:off x="548640" y="1965960"/>
            <a:ext cx="2926080" cy="914400"/>
          </a:xfrm>
          <a:prstGeom prst="roundRect">
            <a:avLst>
              <a:gd name="adj" fmla="val 12000"/>
            </a:avLst>
          </a:prstGeom>
          <a:solidFill>
            <a:srgbClr val="F3F5F9"/>
          </a:solidFill>
          <a:ln w="12700">
            <a:solidFill>
              <a:srgbClr val="F3F5F9"/>
            </a:solidFill>
            <a:prstDash val="solid"/>
          </a:ln>
        </p:spPr>
      </p:sp>
      <p:sp>
        <p:nvSpPr>
          <p:cNvPr id="8" name="Text 5"/>
          <p:cNvSpPr txBox="1"/>
          <p:nvPr/>
        </p:nvSpPr>
        <p:spPr>
          <a:xfrm>
            <a:off x="685800" y="2057400"/>
            <a:ext cx="2651760" cy="41148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Franchise Register</a:t>
            </a:r>
            <a:endParaRPr lang="en-US" sz="1600" dirty="0"/>
          </a:p>
        </p:txBody>
      </p:sp>
      <p:sp>
        <p:nvSpPr>
          <p:cNvPr id="9" name="Text 6"/>
          <p:cNvSpPr txBox="1"/>
          <p:nvPr/>
        </p:nvSpPr>
        <p:spPr>
          <a:xfrm>
            <a:off x="685800" y="2468880"/>
            <a:ext cx="2651760" cy="320040"/>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40 agreements</a:t>
            </a:r>
            <a:endParaRPr lang="en-US" sz="1200" dirty="0"/>
          </a:p>
        </p:txBody>
      </p:sp>
      <p:sp>
        <p:nvSpPr>
          <p:cNvPr id="10" name="Shape 7"/>
          <p:cNvSpPr/>
          <p:nvPr/>
        </p:nvSpPr>
        <p:spPr>
          <a:xfrm>
            <a:off x="3931920" y="1965960"/>
            <a:ext cx="2926080" cy="914400"/>
          </a:xfrm>
          <a:prstGeom prst="roundRect">
            <a:avLst>
              <a:gd name="adj" fmla="val 12000"/>
            </a:avLst>
          </a:prstGeom>
          <a:solidFill>
            <a:srgbClr val="F3F5F9"/>
          </a:solidFill>
          <a:ln w="12700">
            <a:solidFill>
              <a:srgbClr val="F3F5F9"/>
            </a:solidFill>
            <a:prstDash val="solid"/>
          </a:ln>
        </p:spPr>
      </p:sp>
      <p:sp>
        <p:nvSpPr>
          <p:cNvPr id="11" name="Text 8"/>
          <p:cNvSpPr txBox="1"/>
          <p:nvPr/>
        </p:nvSpPr>
        <p:spPr>
          <a:xfrm>
            <a:off x="4069080" y="2057400"/>
            <a:ext cx="2651760" cy="41148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Agreement Details</a:t>
            </a:r>
            <a:endParaRPr lang="en-US" sz="1600" dirty="0"/>
          </a:p>
        </p:txBody>
      </p:sp>
      <p:sp>
        <p:nvSpPr>
          <p:cNvPr id="12" name="Text 9"/>
          <p:cNvSpPr txBox="1"/>
          <p:nvPr/>
        </p:nvSpPr>
        <p:spPr>
          <a:xfrm>
            <a:off x="4069080" y="2468880"/>
            <a:ext cx="2651760" cy="320040"/>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40 contracts</a:t>
            </a:r>
            <a:endParaRPr lang="en-US" sz="1200" dirty="0"/>
          </a:p>
        </p:txBody>
      </p:sp>
      <p:sp>
        <p:nvSpPr>
          <p:cNvPr id="13" name="Shape 10"/>
          <p:cNvSpPr/>
          <p:nvPr/>
        </p:nvSpPr>
        <p:spPr>
          <a:xfrm>
            <a:off x="7315200" y="1965960"/>
            <a:ext cx="2926080" cy="914400"/>
          </a:xfrm>
          <a:prstGeom prst="roundRect">
            <a:avLst>
              <a:gd name="adj" fmla="val 12000"/>
            </a:avLst>
          </a:prstGeom>
          <a:solidFill>
            <a:srgbClr val="F3F5F9"/>
          </a:solidFill>
          <a:ln w="12700">
            <a:solidFill>
              <a:srgbClr val="F3F5F9"/>
            </a:solidFill>
            <a:prstDash val="solid"/>
          </a:ln>
        </p:spPr>
      </p:sp>
      <p:sp>
        <p:nvSpPr>
          <p:cNvPr id="14" name="Text 11"/>
          <p:cNvSpPr txBox="1"/>
          <p:nvPr/>
        </p:nvSpPr>
        <p:spPr>
          <a:xfrm>
            <a:off x="7452360" y="2057400"/>
            <a:ext cx="2651760" cy="41148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Incoming Transactions</a:t>
            </a:r>
            <a:endParaRPr lang="en-US" sz="1600" dirty="0"/>
          </a:p>
        </p:txBody>
      </p:sp>
      <p:sp>
        <p:nvSpPr>
          <p:cNvPr id="15" name="Text 12"/>
          <p:cNvSpPr txBox="1"/>
          <p:nvPr/>
        </p:nvSpPr>
        <p:spPr>
          <a:xfrm>
            <a:off x="7452360" y="2468880"/>
            <a:ext cx="2651760" cy="320040"/>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40 bank receipts</a:t>
            </a:r>
            <a:endParaRPr lang="en-US" sz="1200" dirty="0"/>
          </a:p>
        </p:txBody>
      </p:sp>
      <p:sp>
        <p:nvSpPr>
          <p:cNvPr id="16" name="Text 13"/>
          <p:cNvSpPr txBox="1"/>
          <p:nvPr/>
        </p:nvSpPr>
        <p:spPr>
          <a:xfrm>
            <a:off x="548640" y="2971800"/>
            <a:ext cx="5486400" cy="274320"/>
          </a:xfrm>
          <a:prstGeom prst="rect">
            <a:avLst/>
          </a:prstGeom>
          <a:noFill/>
          <a:ln/>
        </p:spPr>
        <p:txBody>
          <a:bodyPr wrap="square" lIns="0" tIns="0" rIns="0" bIns="0" rtlCol="0" anchor="ctr"/>
          <a:lstStyle/>
          <a:p>
            <a:pPr indent="0" marL="0">
              <a:buNone/>
            </a:pPr>
            <a:r>
              <a:rPr lang="en-US" sz="1200" i="1" dirty="0">
                <a:solidFill>
                  <a:srgbClr val="2F6DB5"/>
                </a:solidFill>
                <a:latin typeface="Calibri" pitchFamily="34" charset="0"/>
                <a:ea typeface="Calibri" pitchFamily="34" charset="-122"/>
                <a:cs typeface="Calibri" pitchFamily="34" charset="-120"/>
              </a:rPr>
              <a:t>key: Agreement ID</a:t>
            </a:r>
            <a:endParaRPr lang="en-US" sz="1200" dirty="0"/>
          </a:p>
        </p:txBody>
      </p:sp>
      <p:sp>
        <p:nvSpPr>
          <p:cNvPr id="17" name="Text 14"/>
          <p:cNvSpPr txBox="1"/>
          <p:nvPr/>
        </p:nvSpPr>
        <p:spPr>
          <a:xfrm>
            <a:off x="548640" y="3520440"/>
            <a:ext cx="3657600" cy="274320"/>
          </a:xfrm>
          <a:prstGeom prst="rect">
            <a:avLst/>
          </a:prstGeom>
          <a:noFill/>
          <a:ln/>
        </p:spPr>
        <p:txBody>
          <a:bodyPr wrap="square" lIns="0" tIns="0" rIns="0" bIns="0" rtlCol="0" anchor="ctr"/>
          <a:lstStyle/>
          <a:p>
            <a:pPr indent="0" marL="0">
              <a:buNone/>
            </a:pPr>
            <a:r>
              <a:rPr lang="en-US" sz="1200" b="1" dirty="0">
                <a:solidFill>
                  <a:srgbClr val="6B7785"/>
                </a:solidFill>
                <a:latin typeface="Calibri" pitchFamily="34" charset="0"/>
                <a:ea typeface="Calibri" pitchFamily="34" charset="-122"/>
                <a:cs typeface="Calibri" pitchFamily="34" charset="-120"/>
              </a:rPr>
              <a:t>DISBURSEMENTS</a:t>
            </a:r>
            <a:endParaRPr lang="en-US" sz="1200" dirty="0"/>
          </a:p>
        </p:txBody>
      </p:sp>
      <p:sp>
        <p:nvSpPr>
          <p:cNvPr id="18" name="Shape 15"/>
          <p:cNvSpPr/>
          <p:nvPr/>
        </p:nvSpPr>
        <p:spPr>
          <a:xfrm>
            <a:off x="548640" y="3840480"/>
            <a:ext cx="2926080" cy="914400"/>
          </a:xfrm>
          <a:prstGeom prst="roundRect">
            <a:avLst>
              <a:gd name="adj" fmla="val 12000"/>
            </a:avLst>
          </a:prstGeom>
          <a:solidFill>
            <a:srgbClr val="0B1F3A"/>
          </a:solidFill>
          <a:ln w="12700">
            <a:solidFill>
              <a:srgbClr val="0B1F3A"/>
            </a:solidFill>
            <a:prstDash val="solid"/>
          </a:ln>
        </p:spPr>
      </p:sp>
      <p:sp>
        <p:nvSpPr>
          <p:cNvPr id="19" name="Text 16"/>
          <p:cNvSpPr txBox="1"/>
          <p:nvPr/>
        </p:nvSpPr>
        <p:spPr>
          <a:xfrm>
            <a:off x="685800" y="3931920"/>
            <a:ext cx="265176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Outgoing Transactions</a:t>
            </a:r>
            <a:endParaRPr lang="en-US" sz="1600" dirty="0"/>
          </a:p>
        </p:txBody>
      </p:sp>
      <p:sp>
        <p:nvSpPr>
          <p:cNvPr id="20" name="Text 17"/>
          <p:cNvSpPr txBox="1"/>
          <p:nvPr/>
        </p:nvSpPr>
        <p:spPr>
          <a:xfrm>
            <a:off x="685800" y="4343400"/>
            <a:ext cx="265176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37 payments, no amount</a:t>
            </a:r>
            <a:endParaRPr lang="en-US" sz="1200" dirty="0"/>
          </a:p>
        </p:txBody>
      </p:sp>
      <p:sp>
        <p:nvSpPr>
          <p:cNvPr id="21" name="Shape 18"/>
          <p:cNvSpPr/>
          <p:nvPr/>
        </p:nvSpPr>
        <p:spPr>
          <a:xfrm>
            <a:off x="3931920" y="3840480"/>
            <a:ext cx="2926080" cy="914400"/>
          </a:xfrm>
          <a:prstGeom prst="roundRect">
            <a:avLst>
              <a:gd name="adj" fmla="val 12000"/>
            </a:avLst>
          </a:prstGeom>
          <a:solidFill>
            <a:srgbClr val="0B1F3A"/>
          </a:solidFill>
          <a:ln w="12700">
            <a:solidFill>
              <a:srgbClr val="0B1F3A"/>
            </a:solidFill>
            <a:prstDash val="solid"/>
          </a:ln>
        </p:spPr>
      </p:sp>
      <p:sp>
        <p:nvSpPr>
          <p:cNvPr id="22" name="Text 19"/>
          <p:cNvSpPr txBox="1"/>
          <p:nvPr/>
        </p:nvSpPr>
        <p:spPr>
          <a:xfrm>
            <a:off x="4069080" y="3931920"/>
            <a:ext cx="265176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Transaction Evidence</a:t>
            </a:r>
            <a:endParaRPr lang="en-US" sz="1600" dirty="0"/>
          </a:p>
        </p:txBody>
      </p:sp>
      <p:sp>
        <p:nvSpPr>
          <p:cNvPr id="23" name="Text 20"/>
          <p:cNvSpPr txBox="1"/>
          <p:nvPr/>
        </p:nvSpPr>
        <p:spPr>
          <a:xfrm>
            <a:off x="4069080" y="4343400"/>
            <a:ext cx="265176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amount + documents</a:t>
            </a:r>
            <a:endParaRPr lang="en-US" sz="1200" dirty="0"/>
          </a:p>
        </p:txBody>
      </p:sp>
      <p:sp>
        <p:nvSpPr>
          <p:cNvPr id="24" name="Shape 21"/>
          <p:cNvSpPr/>
          <p:nvPr/>
        </p:nvSpPr>
        <p:spPr>
          <a:xfrm>
            <a:off x="7315200" y="3840480"/>
            <a:ext cx="2926080" cy="914400"/>
          </a:xfrm>
          <a:prstGeom prst="roundRect">
            <a:avLst>
              <a:gd name="adj" fmla="val 12000"/>
            </a:avLst>
          </a:prstGeom>
          <a:solidFill>
            <a:srgbClr val="0B1F3A"/>
          </a:solidFill>
          <a:ln w="12700">
            <a:solidFill>
              <a:srgbClr val="0B1F3A"/>
            </a:solidFill>
            <a:prstDash val="solid"/>
          </a:ln>
        </p:spPr>
      </p:sp>
      <p:sp>
        <p:nvSpPr>
          <p:cNvPr id="25" name="Text 22"/>
          <p:cNvSpPr txBox="1"/>
          <p:nvPr/>
        </p:nvSpPr>
        <p:spPr>
          <a:xfrm>
            <a:off x="7452360" y="3931920"/>
            <a:ext cx="265176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Payment Approval</a:t>
            </a:r>
            <a:endParaRPr lang="en-US" sz="1600" dirty="0"/>
          </a:p>
        </p:txBody>
      </p:sp>
      <p:sp>
        <p:nvSpPr>
          <p:cNvPr id="26" name="Text 23"/>
          <p:cNvSpPr txBox="1"/>
          <p:nvPr/>
        </p:nvSpPr>
        <p:spPr>
          <a:xfrm>
            <a:off x="7452360" y="4343400"/>
            <a:ext cx="265176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maker / checker / approver</a:t>
            </a:r>
            <a:endParaRPr lang="en-US" sz="1200" dirty="0"/>
          </a:p>
        </p:txBody>
      </p:sp>
      <p:sp>
        <p:nvSpPr>
          <p:cNvPr id="27" name="Text 24"/>
          <p:cNvSpPr txBox="1"/>
          <p:nvPr/>
        </p:nvSpPr>
        <p:spPr>
          <a:xfrm>
            <a:off x="548640" y="4846320"/>
            <a:ext cx="8229600" cy="274320"/>
          </a:xfrm>
          <a:prstGeom prst="rect">
            <a:avLst/>
          </a:prstGeom>
          <a:noFill/>
          <a:ln/>
        </p:spPr>
        <p:txBody>
          <a:bodyPr wrap="square" lIns="0" tIns="0" rIns="0" bIns="0" rtlCol="0" anchor="ctr"/>
          <a:lstStyle/>
          <a:p>
            <a:pPr indent="0" marL="0">
              <a:buNone/>
            </a:pPr>
            <a:r>
              <a:rPr lang="en-US" sz="1200" i="1" dirty="0">
                <a:solidFill>
                  <a:srgbClr val="2F6DB5"/>
                </a:solidFill>
                <a:latin typeface="Calibri" pitchFamily="34" charset="0"/>
                <a:ea typeface="Calibri" pitchFamily="34" charset="-122"/>
                <a:cs typeface="Calibri" pitchFamily="34" charset="-120"/>
              </a:rPr>
              <a:t>keys: Transaction ID (Outgoing to Evidence), Reference (Evidence to Approval)</a:t>
            </a:r>
            <a:endParaRPr lang="en-US" sz="1200" dirty="0"/>
          </a:p>
        </p:txBody>
      </p:sp>
      <p:sp>
        <p:nvSpPr>
          <p:cNvPr id="28" name="Shape 25"/>
          <p:cNvSpPr/>
          <p:nvPr/>
        </p:nvSpPr>
        <p:spPr>
          <a:xfrm>
            <a:off x="548640" y="5303520"/>
            <a:ext cx="9692640" cy="822960"/>
          </a:xfrm>
          <a:prstGeom prst="roundRect">
            <a:avLst>
              <a:gd name="adj" fmla="val 13333"/>
            </a:avLst>
          </a:prstGeom>
          <a:solidFill>
            <a:srgbClr val="FFF4DF"/>
          </a:solidFill>
          <a:ln w="12700">
            <a:solidFill>
              <a:srgbClr val="FFF4DF"/>
            </a:solidFill>
            <a:prstDash val="solid"/>
          </a:ln>
        </p:spPr>
      </p:sp>
      <p:sp>
        <p:nvSpPr>
          <p:cNvPr id="29" name="Text 26"/>
          <p:cNvSpPr txBox="1"/>
          <p:nvPr/>
        </p:nvSpPr>
        <p:spPr>
          <a:xfrm>
            <a:off x="731520" y="5349240"/>
            <a:ext cx="9326880" cy="731520"/>
          </a:xfrm>
          <a:prstGeom prst="rect">
            <a:avLst/>
          </a:prstGeom>
          <a:noFill/>
          <a:ln/>
        </p:spPr>
        <p:txBody>
          <a:bodyPr wrap="square" lIns="0" tIns="0" rIns="0" bIns="0" rtlCol="0" anchor="ctr"/>
          <a:lstStyle/>
          <a:p>
            <a:pPr indent="0" marL="0">
              <a:buNone/>
            </a:pPr>
            <a:r>
              <a:rPr lang="en-US" sz="1400" dirty="0">
                <a:solidFill>
                  <a:srgbClr val="0B1F3A"/>
                </a:solidFill>
                <a:latin typeface="Calibri" pitchFamily="34" charset="0"/>
                <a:ea typeface="Calibri" pitchFamily="34" charset="-122"/>
                <a:cs typeface="Calibri" pitchFamily="34" charset="-120"/>
              </a:rPr>
              <a:t>Added from booklet: vendor master extract and bank-account change log, used to test beneficiaries and account registration.</a:t>
            </a:r>
            <a:endParaRPr lang="en-US" sz="1400" dirty="0"/>
          </a:p>
        </p:txBody>
      </p:sp>
      <p:sp>
        <p:nvSpPr>
          <p:cNvPr id="30" name="Shape 27"/>
          <p:cNvSpPr/>
          <p:nvPr/>
        </p:nvSpPr>
        <p:spPr>
          <a:xfrm>
            <a:off x="10607040" y="1965960"/>
            <a:ext cx="1097280" cy="2788920"/>
          </a:xfrm>
          <a:prstGeom prst="roundRect">
            <a:avLst>
              <a:gd name="adj" fmla="val 10000"/>
            </a:avLst>
          </a:prstGeom>
          <a:solidFill>
            <a:srgbClr val="F2A541"/>
          </a:solidFill>
          <a:ln w="12700">
            <a:solidFill>
              <a:srgbClr val="F2A541"/>
            </a:solidFill>
            <a:prstDash val="solid"/>
          </a:ln>
        </p:spPr>
      </p:sp>
      <p:sp>
        <p:nvSpPr>
          <p:cNvPr id="31" name="Text 28"/>
          <p:cNvSpPr txBox="1"/>
          <p:nvPr/>
        </p:nvSpPr>
        <p:spPr>
          <a:xfrm>
            <a:off x="10652760" y="2103120"/>
            <a:ext cx="1005840" cy="2560320"/>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Excel model (formula-driven)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MATHEMATICAL TIE-OUT</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The receipts tie out perfectly; the disbursements do not explain themselves</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ESM Fraud Investigation | CPA Days 2026</a:t>
            </a:r>
            <a:endParaRPr lang="en-US" sz="1000" dirty="0"/>
          </a:p>
        </p:txBody>
      </p:sp>
      <p:sp>
        <p:nvSpPr>
          <p:cNvPr id="6" name="Shape 3"/>
          <p:cNvSpPr/>
          <p:nvPr/>
        </p:nvSpPr>
        <p:spPr>
          <a:xfrm>
            <a:off x="548640" y="1737360"/>
            <a:ext cx="3566160" cy="1554480"/>
          </a:xfrm>
          <a:prstGeom prst="roundRect">
            <a:avLst>
              <a:gd name="adj" fmla="val 7059"/>
            </a:avLst>
          </a:prstGeom>
          <a:solidFill>
            <a:srgbClr val="F3F5F9"/>
          </a:solidFill>
          <a:ln w="12700">
            <a:solidFill>
              <a:srgbClr val="F3F5F9"/>
            </a:solidFill>
            <a:prstDash val="solid"/>
          </a:ln>
        </p:spPr>
      </p:sp>
      <p:sp>
        <p:nvSpPr>
          <p:cNvPr id="7" name="Text 4"/>
          <p:cNvSpPr txBox="1"/>
          <p:nvPr/>
        </p:nvSpPr>
        <p:spPr>
          <a:xfrm>
            <a:off x="731520" y="1874520"/>
            <a:ext cx="3200400" cy="777240"/>
          </a:xfrm>
          <a:prstGeom prst="rect">
            <a:avLst/>
          </a:prstGeom>
          <a:noFill/>
          <a:ln/>
        </p:spPr>
        <p:txBody>
          <a:bodyPr wrap="square" lIns="0" tIns="0" rIns="0" bIns="0" rtlCol="0" anchor="ctr"/>
          <a:lstStyle/>
          <a:p>
            <a:pPr indent="0" marL="0">
              <a:buNone/>
            </a:pPr>
            <a:r>
              <a:rPr lang="en-US" sz="3400" b="1" dirty="0">
                <a:solidFill>
                  <a:srgbClr val="2E8B57"/>
                </a:solidFill>
                <a:latin typeface="Cambria" pitchFamily="34" charset="0"/>
                <a:ea typeface="Cambria" pitchFamily="34" charset="-122"/>
                <a:cs typeface="Cambria" pitchFamily="34" charset="-120"/>
              </a:rPr>
              <a:t>26.93bn</a:t>
            </a:r>
            <a:endParaRPr lang="en-US" sz="3400" dirty="0"/>
          </a:p>
        </p:txBody>
      </p:sp>
      <p:sp>
        <p:nvSpPr>
          <p:cNvPr id="8" name="Text 5"/>
          <p:cNvSpPr txBox="1"/>
          <p:nvPr/>
        </p:nvSpPr>
        <p:spPr>
          <a:xfrm>
            <a:off x="731520" y="2592324"/>
            <a:ext cx="3200400" cy="621792"/>
          </a:xfrm>
          <a:prstGeom prst="rect">
            <a:avLst/>
          </a:prstGeom>
          <a:noFill/>
          <a:ln/>
        </p:spPr>
        <p:txBody>
          <a:bodyPr wrap="square" lIns="0" tIns="0" rIns="0" bIns="0" rtlCol="0" anchor="t"/>
          <a:lstStyle/>
          <a:p>
            <a:pPr indent="0" marL="0">
              <a:buNone/>
            </a:pPr>
            <a:r>
              <a:rPr lang="en-US" sz="1300" dirty="0">
                <a:solidFill>
                  <a:srgbClr val="44546A"/>
                </a:solidFill>
                <a:latin typeface="Calibri" pitchFamily="34" charset="0"/>
                <a:ea typeface="Calibri" pitchFamily="34" charset="-122"/>
                <a:cs typeface="Calibri" pitchFamily="34" charset="-120"/>
              </a:rPr>
              <a:t>Fees per 40 agreements = bank receipts (difference 0)</a:t>
            </a:r>
            <a:endParaRPr lang="en-US" sz="1300" dirty="0"/>
          </a:p>
        </p:txBody>
      </p:sp>
      <p:sp>
        <p:nvSpPr>
          <p:cNvPr id="9" name="Shape 6"/>
          <p:cNvSpPr/>
          <p:nvPr/>
        </p:nvSpPr>
        <p:spPr>
          <a:xfrm>
            <a:off x="4297680" y="1737360"/>
            <a:ext cx="3566160" cy="1554480"/>
          </a:xfrm>
          <a:prstGeom prst="roundRect">
            <a:avLst>
              <a:gd name="adj" fmla="val 7059"/>
            </a:avLst>
          </a:prstGeom>
          <a:solidFill>
            <a:srgbClr val="F3F5F9"/>
          </a:solidFill>
          <a:ln w="12700">
            <a:solidFill>
              <a:srgbClr val="F3F5F9"/>
            </a:solidFill>
            <a:prstDash val="solid"/>
          </a:ln>
        </p:spPr>
      </p:sp>
      <p:sp>
        <p:nvSpPr>
          <p:cNvPr id="10" name="Text 7"/>
          <p:cNvSpPr txBox="1"/>
          <p:nvPr/>
        </p:nvSpPr>
        <p:spPr>
          <a:xfrm>
            <a:off x="4480560" y="1874520"/>
            <a:ext cx="3200400" cy="777240"/>
          </a:xfrm>
          <a:prstGeom prst="rect">
            <a:avLst/>
          </a:prstGeom>
          <a:noFill/>
          <a:ln/>
        </p:spPr>
        <p:txBody>
          <a:bodyPr wrap="square" lIns="0" tIns="0" rIns="0" bIns="0" rtlCol="0" anchor="ctr"/>
          <a:lstStyle/>
          <a:p>
            <a:pPr indent="0" marL="0">
              <a:buNone/>
            </a:pPr>
            <a:r>
              <a:rPr lang="en-US" sz="3400" b="1" dirty="0">
                <a:solidFill>
                  <a:srgbClr val="2E8B57"/>
                </a:solidFill>
                <a:latin typeface="Cambria" pitchFamily="34" charset="0"/>
                <a:ea typeface="Cambria" pitchFamily="34" charset="-122"/>
                <a:cs typeface="Cambria" pitchFamily="34" charset="-120"/>
              </a:rPr>
              <a:t>40 / 40</a:t>
            </a:r>
            <a:endParaRPr lang="en-US" sz="3400" dirty="0"/>
          </a:p>
        </p:txBody>
      </p:sp>
      <p:sp>
        <p:nvSpPr>
          <p:cNvPr id="11" name="Text 8"/>
          <p:cNvSpPr txBox="1"/>
          <p:nvPr/>
        </p:nvSpPr>
        <p:spPr>
          <a:xfrm>
            <a:off x="4480560" y="2592324"/>
            <a:ext cx="3200400" cy="621792"/>
          </a:xfrm>
          <a:prstGeom prst="rect">
            <a:avLst/>
          </a:prstGeom>
          <a:noFill/>
          <a:ln/>
        </p:spPr>
        <p:txBody>
          <a:bodyPr wrap="square" lIns="0" tIns="0" rIns="0" bIns="0" rtlCol="0" anchor="t"/>
          <a:lstStyle/>
          <a:p>
            <a:pPr indent="0" marL="0">
              <a:buNone/>
            </a:pPr>
            <a:r>
              <a:rPr lang="en-US" sz="1300" dirty="0">
                <a:solidFill>
                  <a:srgbClr val="44546A"/>
                </a:solidFill>
                <a:latin typeface="Calibri" pitchFamily="34" charset="0"/>
                <a:ea typeface="Calibri" pitchFamily="34" charset="-122"/>
                <a:cs typeface="Calibri" pitchFamily="34" charset="-120"/>
              </a:rPr>
              <a:t>receipts match amount, account and sender</a:t>
            </a:r>
            <a:endParaRPr lang="en-US" sz="1300" dirty="0"/>
          </a:p>
        </p:txBody>
      </p:sp>
      <p:sp>
        <p:nvSpPr>
          <p:cNvPr id="12" name="Shape 9"/>
          <p:cNvSpPr/>
          <p:nvPr/>
        </p:nvSpPr>
        <p:spPr>
          <a:xfrm>
            <a:off x="8046720" y="1737360"/>
            <a:ext cx="3566160" cy="1554480"/>
          </a:xfrm>
          <a:prstGeom prst="roundRect">
            <a:avLst>
              <a:gd name="adj" fmla="val 7059"/>
            </a:avLst>
          </a:prstGeom>
          <a:solidFill>
            <a:srgbClr val="F3F5F9"/>
          </a:solidFill>
          <a:ln w="12700">
            <a:solidFill>
              <a:srgbClr val="F3F5F9"/>
            </a:solidFill>
            <a:prstDash val="solid"/>
          </a:ln>
        </p:spPr>
      </p:sp>
      <p:sp>
        <p:nvSpPr>
          <p:cNvPr id="13" name="Text 10"/>
          <p:cNvSpPr txBox="1"/>
          <p:nvPr/>
        </p:nvSpPr>
        <p:spPr>
          <a:xfrm>
            <a:off x="8229600" y="1874520"/>
            <a:ext cx="3200400" cy="777240"/>
          </a:xfrm>
          <a:prstGeom prst="rect">
            <a:avLst/>
          </a:prstGeom>
          <a:noFill/>
          <a:ln/>
        </p:spPr>
        <p:txBody>
          <a:bodyPr wrap="square" lIns="0" tIns="0" rIns="0" bIns="0" rtlCol="0" anchor="ctr"/>
          <a:lstStyle/>
          <a:p>
            <a:pPr indent="0" marL="0">
              <a:buNone/>
            </a:pPr>
            <a:r>
              <a:rPr lang="en-US" sz="3400" b="1" dirty="0">
                <a:solidFill>
                  <a:srgbClr val="2E8B57"/>
                </a:solidFill>
                <a:latin typeface="Cambria" pitchFamily="34" charset="0"/>
                <a:ea typeface="Cambria" pitchFamily="34" charset="-122"/>
                <a:cs typeface="Cambria" pitchFamily="34" charset="-120"/>
              </a:rPr>
              <a:t>10 / 10</a:t>
            </a:r>
            <a:endParaRPr lang="en-US" sz="3400" dirty="0"/>
          </a:p>
        </p:txBody>
      </p:sp>
      <p:sp>
        <p:nvSpPr>
          <p:cNvPr id="14" name="Text 11"/>
          <p:cNvSpPr txBox="1"/>
          <p:nvPr/>
        </p:nvSpPr>
        <p:spPr>
          <a:xfrm>
            <a:off x="8229600" y="2592324"/>
            <a:ext cx="3200400" cy="621792"/>
          </a:xfrm>
          <a:prstGeom prst="rect">
            <a:avLst/>
          </a:prstGeom>
          <a:noFill/>
          <a:ln/>
        </p:spPr>
        <p:txBody>
          <a:bodyPr wrap="square" lIns="0" tIns="0" rIns="0" bIns="0" rtlCol="0" anchor="t"/>
          <a:lstStyle/>
          <a:p>
            <a:pPr indent="0" marL="0">
              <a:buNone/>
            </a:pPr>
            <a:r>
              <a:rPr lang="en-US" sz="1300" dirty="0">
                <a:solidFill>
                  <a:srgbClr val="44546A"/>
                </a:solidFill>
                <a:latin typeface="Calibri" pitchFamily="34" charset="0"/>
                <a:ea typeface="Calibri" pitchFamily="34" charset="-122"/>
                <a:cs typeface="Calibri" pitchFamily="34" charset="-120"/>
              </a:rPr>
              <a:t>tie-out checks PASS in workbook</a:t>
            </a:r>
            <a:endParaRPr lang="en-US" sz="1300" dirty="0"/>
          </a:p>
        </p:txBody>
      </p:sp>
      <p:graphicFrame>
        <p:nvGraphicFramePr>
          <p:cNvPr id="15" name="Chart 0" descr=""/>
          <p:cNvGraphicFramePr/>
          <p:nvPr/>
        </p:nvGraphicFramePr>
        <p:xfrm>
          <a:off x="548640" y="3566160"/>
          <a:ext cx="5669280" cy="2651760"/>
        </p:xfrm>
        <a:graphic xmlns:a="http://schemas.openxmlformats.org/drawingml/2006/main">
          <a:graphicData uri="http://schemas.openxmlformats.org/drawingml/2006/chart">
            <c:chart xmlns:c="http://schemas.openxmlformats.org/drawingml/2006/chart" r:id="rId1"/>
          </a:graphicData>
        </a:graphic>
      </p:graphicFrame>
      <p:sp>
        <p:nvSpPr>
          <p:cNvPr id="16" name="Shape 12"/>
          <p:cNvSpPr/>
          <p:nvPr/>
        </p:nvSpPr>
        <p:spPr>
          <a:xfrm>
            <a:off x="6583680" y="3566160"/>
            <a:ext cx="5029200" cy="2651760"/>
          </a:xfrm>
          <a:prstGeom prst="roundRect">
            <a:avLst>
              <a:gd name="adj" fmla="val 4138"/>
            </a:avLst>
          </a:prstGeom>
          <a:solidFill>
            <a:srgbClr val="F3F5F9"/>
          </a:solidFill>
          <a:ln w="12700">
            <a:solidFill>
              <a:srgbClr val="F3F5F9"/>
            </a:solidFill>
            <a:prstDash val="solid"/>
          </a:ln>
        </p:spPr>
      </p:sp>
      <p:sp>
        <p:nvSpPr>
          <p:cNvPr id="17" name="Text 13"/>
          <p:cNvSpPr txBox="1"/>
          <p:nvPr/>
        </p:nvSpPr>
        <p:spPr>
          <a:xfrm>
            <a:off x="6858000" y="3703320"/>
            <a:ext cx="4572000" cy="36576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So what?</a:t>
            </a:r>
            <a:endParaRPr lang="en-US" sz="2000" dirty="0"/>
          </a:p>
        </p:txBody>
      </p:sp>
      <p:sp>
        <p:nvSpPr>
          <p:cNvPr id="18" name="Text 14"/>
          <p:cNvSpPr txBox="1"/>
          <p:nvPr/>
        </p:nvSpPr>
        <p:spPr>
          <a:xfrm>
            <a:off x="6858000" y="4206240"/>
            <a:ext cx="448056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Fee entitlement is fully collected: no missing or short receipts</a:t>
            </a:r>
            <a:endParaRPr lang="en-US" sz="1500" dirty="0"/>
          </a:p>
          <a:p>
            <a:pPr marL="342900" indent="-3429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Outgoing total is consistent across Evidence and Approval</a:t>
            </a:r>
            <a:endParaRPr lang="en-US" sz="1500" dirty="0"/>
          </a:p>
          <a:p>
            <a:pPr marL="342900" indent="-3429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The risk sits in what the 37 payments were for, not in the arithmetic</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Q2 | BANK RECEIPT RECONCILIATION</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Amounts reconcile, but 37 of 40 receipts have date exceptions</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ESM Fraud Investigation | CPA Days 2026</a:t>
            </a:r>
            <a:endParaRPr lang="en-US" sz="1000" dirty="0"/>
          </a:p>
        </p:txBody>
      </p:sp>
      <p:graphicFrame>
        <p:nvGraphicFramePr>
          <p:cNvPr id="6" name="Chart 0" descr=""/>
          <p:cNvGraphicFramePr/>
          <p:nvPr/>
        </p:nvGraphicFramePr>
        <p:xfrm>
          <a:off x="548640" y="1645920"/>
          <a:ext cx="5120640" cy="448056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035040" y="1737360"/>
            <a:ext cx="5577840" cy="4389120"/>
          </a:xfrm>
          <a:prstGeom prst="roundRect">
            <a:avLst>
              <a:gd name="adj" fmla="val 2500"/>
            </a:avLst>
          </a:prstGeom>
          <a:solidFill>
            <a:srgbClr val="F3F5F9"/>
          </a:solidFill>
          <a:ln w="12700">
            <a:solidFill>
              <a:srgbClr val="F3F5F9"/>
            </a:solidFill>
            <a:prstDash val="solid"/>
          </a:ln>
        </p:spPr>
      </p:sp>
      <p:sp>
        <p:nvSpPr>
          <p:cNvPr id="8" name="Text 4"/>
          <p:cNvSpPr txBox="1"/>
          <p:nvPr/>
        </p:nvSpPr>
        <p:spPr>
          <a:xfrm>
            <a:off x="6309360" y="1874520"/>
            <a:ext cx="5029200" cy="36576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What we found</a:t>
            </a:r>
            <a:endParaRPr lang="en-US" sz="2000" dirty="0"/>
          </a:p>
        </p:txBody>
      </p:sp>
      <p:sp>
        <p:nvSpPr>
          <p:cNvPr id="9" name="Text 5"/>
          <p:cNvSpPr txBox="1"/>
          <p:nvPr/>
        </p:nvSpPr>
        <p:spPr>
          <a:xfrm>
            <a:off x="6309360" y="2377440"/>
            <a:ext cx="5029200" cy="3566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0B1F3A"/>
                </a:solidFill>
                <a:latin typeface="Calibri" pitchFamily="34" charset="0"/>
                <a:ea typeface="Calibri" pitchFamily="34" charset="-122"/>
                <a:cs typeface="Calibri" pitchFamily="34" charset="-120"/>
              </a:rPr>
              <a:t>21 receipts booked before the agreement date (up to 299 days early)</a:t>
            </a:r>
            <a:endParaRPr lang="en-US" sz="1600" dirty="0"/>
          </a:p>
          <a:p>
            <a:pPr marL="342900" indent="-342900">
              <a:spcAft>
                <a:spcPts val="800"/>
              </a:spcAft>
              <a:buSzPct val="100000"/>
              <a:buChar char="•"/>
            </a:pPr>
            <a:r>
              <a:rPr lang="en-US" sz="1600" dirty="0">
                <a:solidFill>
                  <a:srgbClr val="0B1F3A"/>
                </a:solidFill>
                <a:latin typeface="Calibri" pitchFamily="34" charset="0"/>
                <a:ea typeface="Calibri" pitchFamily="34" charset="-122"/>
                <a:cs typeface="Calibri" pitchFamily="34" charset="-120"/>
              </a:rPr>
              <a:t>16 receipts later than due date (up to 223 days late)</a:t>
            </a:r>
            <a:endParaRPr lang="en-US" sz="1600" dirty="0"/>
          </a:p>
          <a:p>
            <a:pPr marL="342900" indent="-342900">
              <a:spcAft>
                <a:spcPts val="800"/>
              </a:spcAft>
              <a:buSzPct val="100000"/>
              <a:buChar char="•"/>
            </a:pPr>
            <a:r>
              <a:rPr lang="en-US" sz="1600" dirty="0">
                <a:solidFill>
                  <a:srgbClr val="0B1F3A"/>
                </a:solidFill>
                <a:latin typeface="Calibri" pitchFamily="34" charset="0"/>
                <a:ea typeface="Calibri" pitchFamily="34" charset="-122"/>
                <a:cs typeface="Calibri" pitchFamily="34" charset="-120"/>
              </a:rPr>
              <a:t>Register shows "Paid in Full" for all 40, hiding the lateness</a:t>
            </a:r>
            <a:endParaRPr lang="en-US" sz="1600" dirty="0"/>
          </a:p>
          <a:p>
            <a:pPr marL="342900" indent="-342900">
              <a:spcAft>
                <a:spcPts val="800"/>
              </a:spcAft>
              <a:buSzPct val="100000"/>
              <a:buChar char="•"/>
            </a:pPr>
            <a:r>
              <a:rPr lang="en-US" sz="1600" dirty="0">
                <a:solidFill>
                  <a:srgbClr val="0B1F3A"/>
                </a:solidFill>
                <a:latin typeface="Calibri" pitchFamily="34" charset="0"/>
                <a:ea typeface="Calibri" pitchFamily="34" charset="-122"/>
                <a:cs typeface="Calibri" pitchFamily="34" charset="-120"/>
              </a:rPr>
              <a:t>Treatment: investigation point. Confirm with bank statements and partners before concluding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Q3, Q5, Q7 | POPULATION CLASSIFICATION</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Only IDR 2.0bn of IDR 20.08bn is fully supported</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ESM Fraud Investigation | CPA Days 2026</a:t>
            </a:r>
            <a:endParaRPr lang="en-US" sz="1000" dirty="0"/>
          </a:p>
        </p:txBody>
      </p:sp>
      <p:graphicFrame>
        <p:nvGraphicFramePr>
          <p:cNvPr id="6" name="Chart 0" descr=""/>
          <p:cNvGraphicFramePr/>
          <p:nvPr/>
        </p:nvGraphicFramePr>
        <p:xfrm>
          <a:off x="548640" y="164592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7680960" y="1737360"/>
            <a:ext cx="3931920" cy="1280160"/>
          </a:xfrm>
          <a:prstGeom prst="roundRect">
            <a:avLst>
              <a:gd name="adj" fmla="val 8571"/>
            </a:avLst>
          </a:prstGeom>
          <a:solidFill>
            <a:srgbClr val="F3F5F9"/>
          </a:solidFill>
          <a:ln w="12700">
            <a:solidFill>
              <a:srgbClr val="F3F5F9"/>
            </a:solidFill>
            <a:prstDash val="solid"/>
          </a:ln>
        </p:spPr>
      </p:sp>
      <p:sp>
        <p:nvSpPr>
          <p:cNvPr id="8" name="Text 4"/>
          <p:cNvSpPr txBox="1"/>
          <p:nvPr/>
        </p:nvSpPr>
        <p:spPr>
          <a:xfrm>
            <a:off x="7863840" y="1874520"/>
            <a:ext cx="3566160" cy="640080"/>
          </a:xfrm>
          <a:prstGeom prst="rect">
            <a:avLst/>
          </a:prstGeom>
          <a:noFill/>
          <a:ln/>
        </p:spPr>
        <p:txBody>
          <a:bodyPr wrap="square" lIns="0" tIns="0" rIns="0" bIns="0" rtlCol="0" anchor="ctr"/>
          <a:lstStyle/>
          <a:p>
            <a:pPr indent="0" marL="0">
              <a:buNone/>
            </a:pPr>
            <a:r>
              <a:rPr lang="en-US" sz="3400" b="1" dirty="0">
                <a:solidFill>
                  <a:srgbClr val="C8362E"/>
                </a:solidFill>
                <a:latin typeface="Cambria" pitchFamily="34" charset="0"/>
                <a:ea typeface="Cambria" pitchFamily="34" charset="-122"/>
                <a:cs typeface="Cambria" pitchFamily="34" charset="-120"/>
              </a:rPr>
              <a:t>15 | 13.0bn</a:t>
            </a:r>
            <a:endParaRPr lang="en-US" sz="3400" dirty="0"/>
          </a:p>
        </p:txBody>
      </p:sp>
      <p:sp>
        <p:nvSpPr>
          <p:cNvPr id="9" name="Text 5"/>
          <p:cNvSpPr txBox="1"/>
          <p:nvPr/>
        </p:nvSpPr>
        <p:spPr>
          <a:xfrm>
            <a:off x="7863840" y="2441448"/>
            <a:ext cx="3566160" cy="512064"/>
          </a:xfrm>
          <a:prstGeom prst="rect">
            <a:avLst/>
          </a:prstGeom>
          <a:noFill/>
          <a:ln/>
        </p:spPr>
        <p:txBody>
          <a:bodyPr wrap="square" lIns="0" tIns="0" rIns="0" bIns="0" rtlCol="0" anchor="t"/>
          <a:lstStyle/>
          <a:p>
            <a:pPr indent="0" marL="0">
              <a:buNone/>
            </a:pPr>
            <a:r>
              <a:rPr lang="en-US" sz="1300" dirty="0">
                <a:solidFill>
                  <a:srgbClr val="44546A"/>
                </a:solidFill>
                <a:latin typeface="Calibri" pitchFamily="34" charset="0"/>
                <a:ea typeface="Calibri" pitchFamily="34" charset="-122"/>
                <a:cs typeface="Calibri" pitchFamily="34" charset="-120"/>
              </a:rPr>
              <a:t>Suspected fraud: RNS, no contract / PO / delivery evidence</a:t>
            </a:r>
            <a:endParaRPr lang="en-US" sz="1300" dirty="0"/>
          </a:p>
        </p:txBody>
      </p:sp>
      <p:sp>
        <p:nvSpPr>
          <p:cNvPr id="10" name="Shape 6"/>
          <p:cNvSpPr/>
          <p:nvPr/>
        </p:nvSpPr>
        <p:spPr>
          <a:xfrm>
            <a:off x="7680960" y="3154680"/>
            <a:ext cx="3931920" cy="1280160"/>
          </a:xfrm>
          <a:prstGeom prst="roundRect">
            <a:avLst>
              <a:gd name="adj" fmla="val 8571"/>
            </a:avLst>
          </a:prstGeom>
          <a:solidFill>
            <a:srgbClr val="F3F5F9"/>
          </a:solidFill>
          <a:ln w="12700">
            <a:solidFill>
              <a:srgbClr val="F3F5F9"/>
            </a:solidFill>
            <a:prstDash val="solid"/>
          </a:ln>
        </p:spPr>
      </p:sp>
      <p:sp>
        <p:nvSpPr>
          <p:cNvPr id="11" name="Text 7"/>
          <p:cNvSpPr txBox="1"/>
          <p:nvPr/>
        </p:nvSpPr>
        <p:spPr>
          <a:xfrm>
            <a:off x="7863840" y="3291840"/>
            <a:ext cx="3566160" cy="640080"/>
          </a:xfrm>
          <a:prstGeom prst="rect">
            <a:avLst/>
          </a:prstGeom>
          <a:noFill/>
          <a:ln/>
        </p:spPr>
        <p:txBody>
          <a:bodyPr wrap="square" lIns="0" tIns="0" rIns="0" bIns="0" rtlCol="0" anchor="ctr"/>
          <a:lstStyle/>
          <a:p>
            <a:pPr indent="0" marL="0">
              <a:buNone/>
            </a:pPr>
            <a:r>
              <a:rPr lang="en-US" sz="3400" b="1" dirty="0">
                <a:solidFill>
                  <a:srgbClr val="F2A541"/>
                </a:solidFill>
                <a:latin typeface="Cambria" pitchFamily="34" charset="0"/>
                <a:ea typeface="Cambria" pitchFamily="34" charset="-122"/>
                <a:cs typeface="Cambria" pitchFamily="34" charset="-120"/>
              </a:rPr>
              <a:t>13 | 5.08bn</a:t>
            </a:r>
            <a:endParaRPr lang="en-US" sz="3400" dirty="0"/>
          </a:p>
        </p:txBody>
      </p:sp>
      <p:sp>
        <p:nvSpPr>
          <p:cNvPr id="12" name="Text 8"/>
          <p:cNvSpPr txBox="1"/>
          <p:nvPr/>
        </p:nvSpPr>
        <p:spPr>
          <a:xfrm>
            <a:off x="7863840" y="3858768"/>
            <a:ext cx="3566160" cy="512064"/>
          </a:xfrm>
          <a:prstGeom prst="rect">
            <a:avLst/>
          </a:prstGeom>
          <a:noFill/>
          <a:ln/>
        </p:spPr>
        <p:txBody>
          <a:bodyPr wrap="square" lIns="0" tIns="0" rIns="0" bIns="0" rtlCol="0" anchor="t"/>
          <a:lstStyle/>
          <a:p>
            <a:pPr indent="0" marL="0">
              <a:buNone/>
            </a:pPr>
            <a:r>
              <a:rPr lang="en-US" sz="1300" dirty="0">
                <a:solidFill>
                  <a:srgbClr val="44546A"/>
                </a:solidFill>
                <a:latin typeface="Calibri" pitchFamily="34" charset="0"/>
                <a:ea typeface="Calibri" pitchFamily="34" charset="-122"/>
                <a:cs typeface="Calibri" pitchFamily="34" charset="-120"/>
              </a:rPr>
              <a:t>Unresolved: need vendor confirmation and full documents</a:t>
            </a:r>
            <a:endParaRPr lang="en-US" sz="1300" dirty="0"/>
          </a:p>
        </p:txBody>
      </p:sp>
      <p:sp>
        <p:nvSpPr>
          <p:cNvPr id="13" name="Shape 9"/>
          <p:cNvSpPr/>
          <p:nvPr/>
        </p:nvSpPr>
        <p:spPr>
          <a:xfrm>
            <a:off x="7680960" y="4572000"/>
            <a:ext cx="3931920" cy="1280160"/>
          </a:xfrm>
          <a:prstGeom prst="roundRect">
            <a:avLst>
              <a:gd name="adj" fmla="val 8571"/>
            </a:avLst>
          </a:prstGeom>
          <a:solidFill>
            <a:srgbClr val="F3F5F9"/>
          </a:solidFill>
          <a:ln w="12700">
            <a:solidFill>
              <a:srgbClr val="F3F5F9"/>
            </a:solidFill>
            <a:prstDash val="solid"/>
          </a:ln>
        </p:spPr>
      </p:sp>
      <p:sp>
        <p:nvSpPr>
          <p:cNvPr id="14" name="Text 10"/>
          <p:cNvSpPr txBox="1"/>
          <p:nvPr/>
        </p:nvSpPr>
        <p:spPr>
          <a:xfrm>
            <a:off x="7863840" y="4709160"/>
            <a:ext cx="3566160" cy="640080"/>
          </a:xfrm>
          <a:prstGeom prst="rect">
            <a:avLst/>
          </a:prstGeom>
          <a:noFill/>
          <a:ln/>
        </p:spPr>
        <p:txBody>
          <a:bodyPr wrap="square" lIns="0" tIns="0" rIns="0" bIns="0" rtlCol="0" anchor="ctr"/>
          <a:lstStyle/>
          <a:p>
            <a:pPr indent="0" marL="0">
              <a:buNone/>
            </a:pPr>
            <a:r>
              <a:rPr lang="en-US" sz="3400" b="1" dirty="0">
                <a:solidFill>
                  <a:srgbClr val="2E8B57"/>
                </a:solidFill>
                <a:latin typeface="Cambria" pitchFamily="34" charset="0"/>
                <a:ea typeface="Cambria" pitchFamily="34" charset="-122"/>
                <a:cs typeface="Cambria" pitchFamily="34" charset="-120"/>
              </a:rPr>
              <a:t>9 | 2.0bn</a:t>
            </a:r>
            <a:endParaRPr lang="en-US" sz="3400" dirty="0"/>
          </a:p>
        </p:txBody>
      </p:sp>
      <p:sp>
        <p:nvSpPr>
          <p:cNvPr id="15" name="Text 11"/>
          <p:cNvSpPr txBox="1"/>
          <p:nvPr/>
        </p:nvSpPr>
        <p:spPr>
          <a:xfrm>
            <a:off x="7863840" y="5276088"/>
            <a:ext cx="3566160" cy="512064"/>
          </a:xfrm>
          <a:prstGeom prst="rect">
            <a:avLst/>
          </a:prstGeom>
          <a:noFill/>
          <a:ln/>
        </p:spPr>
        <p:txBody>
          <a:bodyPr wrap="square" lIns="0" tIns="0" rIns="0" bIns="0" rtlCol="0" anchor="t"/>
          <a:lstStyle/>
          <a:p>
            <a:pPr indent="0" marL="0">
              <a:buNone/>
            </a:pPr>
            <a:r>
              <a:rPr lang="en-US" sz="1300" dirty="0">
                <a:solidFill>
                  <a:srgbClr val="44546A"/>
                </a:solidFill>
                <a:latin typeface="Calibri" pitchFamily="34" charset="0"/>
                <a:ea typeface="Calibri" pitchFamily="34" charset="-122"/>
                <a:cs typeface="Calibri" pitchFamily="34" charset="-120"/>
              </a:rPr>
              <a:t>Legitimate (provisional): full package on file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Q3, Q4 | FUND TRACING</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One counterparty received 67% of all cash paid out</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ESM Fraud Investigation | CPA Days 2026</a:t>
            </a:r>
            <a:endParaRPr lang="en-US" sz="1000" dirty="0"/>
          </a:p>
        </p:txBody>
      </p:sp>
      <p:graphicFrame>
        <p:nvGraphicFramePr>
          <p:cNvPr id="6" name="Chart 0" descr=""/>
          <p:cNvGraphicFramePr/>
          <p:nvPr/>
        </p:nvGraphicFramePr>
        <p:xfrm>
          <a:off x="548640" y="164592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7863840" y="1737360"/>
            <a:ext cx="3749040" cy="1371600"/>
          </a:xfrm>
          <a:prstGeom prst="roundRect">
            <a:avLst>
              <a:gd name="adj" fmla="val 8000"/>
            </a:avLst>
          </a:prstGeom>
          <a:solidFill>
            <a:srgbClr val="F3F5F9"/>
          </a:solidFill>
          <a:ln w="12700">
            <a:solidFill>
              <a:srgbClr val="F3F5F9"/>
            </a:solidFill>
            <a:prstDash val="solid"/>
          </a:ln>
        </p:spPr>
      </p:sp>
      <p:sp>
        <p:nvSpPr>
          <p:cNvPr id="8" name="Text 4"/>
          <p:cNvSpPr txBox="1"/>
          <p:nvPr/>
        </p:nvSpPr>
        <p:spPr>
          <a:xfrm>
            <a:off x="8046720" y="1874520"/>
            <a:ext cx="3383280" cy="685800"/>
          </a:xfrm>
          <a:prstGeom prst="rect">
            <a:avLst/>
          </a:prstGeom>
          <a:noFill/>
          <a:ln/>
        </p:spPr>
        <p:txBody>
          <a:bodyPr wrap="square" lIns="0" tIns="0" rIns="0" bIns="0" rtlCol="0" anchor="ctr"/>
          <a:lstStyle/>
          <a:p>
            <a:pPr indent="0" marL="0">
              <a:buNone/>
            </a:pPr>
            <a:r>
              <a:rPr lang="en-US" sz="3400" b="1" dirty="0">
                <a:solidFill>
                  <a:srgbClr val="C8362E"/>
                </a:solidFill>
                <a:latin typeface="Cambria" pitchFamily="34" charset="0"/>
                <a:ea typeface="Cambria" pitchFamily="34" charset="-122"/>
                <a:cs typeface="Cambria" pitchFamily="34" charset="-120"/>
              </a:rPr>
              <a:t>16 | 13.5bn</a:t>
            </a:r>
            <a:endParaRPr lang="en-US" sz="3400" dirty="0"/>
          </a:p>
        </p:txBody>
      </p:sp>
      <p:sp>
        <p:nvSpPr>
          <p:cNvPr id="9" name="Text 5"/>
          <p:cNvSpPr txBox="1"/>
          <p:nvPr/>
        </p:nvSpPr>
        <p:spPr>
          <a:xfrm>
            <a:off x="8046720" y="2491740"/>
            <a:ext cx="3383280" cy="548640"/>
          </a:xfrm>
          <a:prstGeom prst="rect">
            <a:avLst/>
          </a:prstGeom>
          <a:noFill/>
          <a:ln/>
        </p:spPr>
        <p:txBody>
          <a:bodyPr wrap="square" lIns="0" tIns="0" rIns="0" bIns="0" rtlCol="0" anchor="t"/>
          <a:lstStyle/>
          <a:p>
            <a:pPr indent="0" marL="0">
              <a:buNone/>
            </a:pPr>
            <a:r>
              <a:rPr lang="en-US" sz="1300" dirty="0">
                <a:solidFill>
                  <a:srgbClr val="44546A"/>
                </a:solidFill>
                <a:latin typeface="Calibri" pitchFamily="34" charset="0"/>
                <a:ea typeface="Calibri" pitchFamily="34" charset="-122"/>
                <a:cs typeface="Calibri" pitchFamily="34" charset="-120"/>
              </a:rPr>
              <a:t>payments to RNS, one bank account (RNS-BR-01)</a:t>
            </a:r>
            <a:endParaRPr lang="en-US" sz="1300" dirty="0"/>
          </a:p>
        </p:txBody>
      </p:sp>
      <p:sp>
        <p:nvSpPr>
          <p:cNvPr id="10" name="Shape 6"/>
          <p:cNvSpPr/>
          <p:nvPr/>
        </p:nvSpPr>
        <p:spPr>
          <a:xfrm>
            <a:off x="7863840" y="3246120"/>
            <a:ext cx="3749040" cy="1371600"/>
          </a:xfrm>
          <a:prstGeom prst="roundRect">
            <a:avLst>
              <a:gd name="adj" fmla="val 8000"/>
            </a:avLst>
          </a:prstGeom>
          <a:solidFill>
            <a:srgbClr val="F3F5F9"/>
          </a:solidFill>
          <a:ln w="12700">
            <a:solidFill>
              <a:srgbClr val="F3F5F9"/>
            </a:solidFill>
            <a:prstDash val="solid"/>
          </a:ln>
        </p:spPr>
      </p:sp>
      <p:sp>
        <p:nvSpPr>
          <p:cNvPr id="11" name="Text 7"/>
          <p:cNvSpPr txBox="1"/>
          <p:nvPr/>
        </p:nvSpPr>
        <p:spPr>
          <a:xfrm>
            <a:off x="8046720" y="3383280"/>
            <a:ext cx="3383280" cy="685800"/>
          </a:xfrm>
          <a:prstGeom prst="rect">
            <a:avLst/>
          </a:prstGeom>
          <a:noFill/>
          <a:ln/>
        </p:spPr>
        <p:txBody>
          <a:bodyPr wrap="square" lIns="0" tIns="0" rIns="0" bIns="0" rtlCol="0" anchor="ctr"/>
          <a:lstStyle/>
          <a:p>
            <a:pPr indent="0" marL="0">
              <a:buNone/>
            </a:pPr>
            <a:r>
              <a:rPr lang="en-US" sz="3400" b="1" dirty="0">
                <a:solidFill>
                  <a:srgbClr val="C8362E"/>
                </a:solidFill>
                <a:latin typeface="Cambria" pitchFamily="34" charset="0"/>
                <a:ea typeface="Cambria" pitchFamily="34" charset="-122"/>
                <a:cs typeface="Cambria" pitchFamily="34" charset="-120"/>
              </a:rPr>
              <a:t>82%</a:t>
            </a:r>
            <a:endParaRPr lang="en-US" sz="3400" dirty="0"/>
          </a:p>
        </p:txBody>
      </p:sp>
      <p:sp>
        <p:nvSpPr>
          <p:cNvPr id="12" name="Text 8"/>
          <p:cNvSpPr txBox="1"/>
          <p:nvPr/>
        </p:nvSpPr>
        <p:spPr>
          <a:xfrm>
            <a:off x="8046720" y="4000500"/>
            <a:ext cx="3383280" cy="548640"/>
          </a:xfrm>
          <a:prstGeom prst="rect">
            <a:avLst/>
          </a:prstGeom>
          <a:noFill/>
          <a:ln/>
        </p:spPr>
        <p:txBody>
          <a:bodyPr wrap="square" lIns="0" tIns="0" rIns="0" bIns="0" rtlCol="0" anchor="t"/>
          <a:lstStyle/>
          <a:p>
            <a:pPr indent="0" marL="0">
              <a:buNone/>
            </a:pPr>
            <a:r>
              <a:rPr lang="en-US" sz="1300" dirty="0">
                <a:solidFill>
                  <a:srgbClr val="44546A"/>
                </a:solidFill>
                <a:latin typeface="Calibri" pitchFamily="34" charset="0"/>
                <a:ea typeface="Calibri" pitchFamily="34" charset="-122"/>
                <a:cs typeface="Calibri" pitchFamily="34" charset="-120"/>
              </a:rPr>
              <a:t>of ESM-BY-01 payments went to RNS (53% for ESM-BX-01)</a:t>
            </a:r>
            <a:endParaRPr lang="en-US" sz="1300" dirty="0"/>
          </a:p>
        </p:txBody>
      </p:sp>
      <p:sp>
        <p:nvSpPr>
          <p:cNvPr id="13" name="Shape 9"/>
          <p:cNvSpPr/>
          <p:nvPr/>
        </p:nvSpPr>
        <p:spPr>
          <a:xfrm>
            <a:off x="7863840" y="4754880"/>
            <a:ext cx="3749040" cy="1371600"/>
          </a:xfrm>
          <a:prstGeom prst="roundRect">
            <a:avLst>
              <a:gd name="adj" fmla="val 8000"/>
            </a:avLst>
          </a:prstGeom>
          <a:solidFill>
            <a:srgbClr val="F3F5F9"/>
          </a:solidFill>
          <a:ln w="12700">
            <a:solidFill>
              <a:srgbClr val="F3F5F9"/>
            </a:solidFill>
            <a:prstDash val="solid"/>
          </a:ln>
        </p:spPr>
      </p:sp>
      <p:sp>
        <p:nvSpPr>
          <p:cNvPr id="14" name="Text 10"/>
          <p:cNvSpPr txBox="1"/>
          <p:nvPr/>
        </p:nvSpPr>
        <p:spPr>
          <a:xfrm>
            <a:off x="8046720" y="4892040"/>
            <a:ext cx="3383280" cy="685800"/>
          </a:xfrm>
          <a:prstGeom prst="rect">
            <a:avLst/>
          </a:prstGeom>
          <a:noFill/>
          <a:ln/>
        </p:spPr>
        <p:txBody>
          <a:bodyPr wrap="square" lIns="0" tIns="0" rIns="0" bIns="0" rtlCol="0" anchor="ctr"/>
          <a:lstStyle/>
          <a:p>
            <a:pPr indent="0" marL="0">
              <a:buNone/>
            </a:pPr>
            <a:r>
              <a:rPr lang="en-US" sz="3400" b="1" dirty="0">
                <a:solidFill>
                  <a:srgbClr val="44546A"/>
                </a:solidFill>
                <a:latin typeface="Cambria" pitchFamily="34" charset="0"/>
                <a:ea typeface="Cambria" pitchFamily="34" charset="-122"/>
                <a:cs typeface="Cambria" pitchFamily="34" charset="-120"/>
              </a:rPr>
              <a:t>2 to 4</a:t>
            </a:r>
            <a:endParaRPr lang="en-US" sz="3400" dirty="0"/>
          </a:p>
        </p:txBody>
      </p:sp>
      <p:sp>
        <p:nvSpPr>
          <p:cNvPr id="15" name="Text 11"/>
          <p:cNvSpPr txBox="1"/>
          <p:nvPr/>
        </p:nvSpPr>
        <p:spPr>
          <a:xfrm>
            <a:off x="8046720" y="5509260"/>
            <a:ext cx="3383280" cy="548640"/>
          </a:xfrm>
          <a:prstGeom prst="rect">
            <a:avLst/>
          </a:prstGeom>
          <a:noFill/>
          <a:ln/>
        </p:spPr>
        <p:txBody>
          <a:bodyPr wrap="square" lIns="0" tIns="0" rIns="0" bIns="0" rtlCol="0" anchor="t"/>
          <a:lstStyle/>
          <a:p>
            <a:pPr indent="0" marL="0">
              <a:buNone/>
            </a:pPr>
            <a:r>
              <a:rPr lang="en-US" sz="1300" dirty="0">
                <a:solidFill>
                  <a:srgbClr val="44546A"/>
                </a:solidFill>
                <a:latin typeface="Calibri" pitchFamily="34" charset="0"/>
                <a:ea typeface="Calibri" pitchFamily="34" charset="-122"/>
                <a:cs typeface="Calibri" pitchFamily="34" charset="-120"/>
              </a:rPr>
              <a:t>bank accounts per vendor for 9 other vendors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Q4, Q5 | RNS PAYMENT STREAM</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16 payments over 18 months, 15 with no commercial support</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ESM Fraud Investigation | CPA Days 2026</a:t>
            </a:r>
            <a:endParaRPr lang="en-US" sz="1000" dirty="0"/>
          </a:p>
        </p:txBody>
      </p:sp>
      <p:graphicFrame>
        <p:nvGraphicFramePr>
          <p:cNvPr id="6" name="Chart 0" descr=""/>
          <p:cNvGraphicFramePr/>
          <p:nvPr/>
        </p:nvGraphicFramePr>
        <p:xfrm>
          <a:off x="548640" y="1645920"/>
          <a:ext cx="7680960" cy="448056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8503920" y="1737360"/>
            <a:ext cx="3108960" cy="4389120"/>
          </a:xfrm>
          <a:prstGeom prst="roundRect">
            <a:avLst>
              <a:gd name="adj" fmla="val 3529"/>
            </a:avLst>
          </a:prstGeom>
          <a:solidFill>
            <a:srgbClr val="F3F5F9"/>
          </a:solidFill>
          <a:ln w="12700">
            <a:solidFill>
              <a:srgbClr val="F3F5F9"/>
            </a:solidFill>
            <a:prstDash val="solid"/>
          </a:ln>
        </p:spPr>
      </p:sp>
      <p:sp>
        <p:nvSpPr>
          <p:cNvPr id="8" name="Text 4"/>
          <p:cNvSpPr txBox="1"/>
          <p:nvPr/>
        </p:nvSpPr>
        <p:spPr>
          <a:xfrm>
            <a:off x="8732520" y="1874520"/>
            <a:ext cx="2743200" cy="36576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Pattern</a:t>
            </a:r>
            <a:endParaRPr lang="en-US" sz="2000" dirty="0"/>
          </a:p>
        </p:txBody>
      </p:sp>
      <p:sp>
        <p:nvSpPr>
          <p:cNvPr id="9" name="Text 5"/>
          <p:cNvSpPr txBox="1"/>
          <p:nvPr/>
        </p:nvSpPr>
        <p:spPr>
          <a:xfrm>
            <a:off x="8732520" y="2377440"/>
            <a:ext cx="269748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B1F3A"/>
                </a:solidFill>
                <a:latin typeface="Calibri" pitchFamily="34" charset="0"/>
                <a:ea typeface="Calibri" pitchFamily="34" charset="-122"/>
                <a:cs typeface="Calibri" pitchFamily="34" charset="-120"/>
              </a:rPr>
              <a:t>Generic descriptions: "adjustment", "held in custody"</a:t>
            </a:r>
            <a:endParaRPr lang="en-US" sz="1400" dirty="0"/>
          </a:p>
          <a:p>
            <a:pPr marL="342900" indent="-342900">
              <a:spcAft>
                <a:spcPts val="800"/>
              </a:spcAft>
              <a:buSzPct val="100000"/>
              <a:buChar char="•"/>
            </a:pPr>
            <a:r>
              <a:rPr lang="en-US" sz="1400" dirty="0">
                <a:solidFill>
                  <a:srgbClr val="0B1F3A"/>
                </a:solidFill>
                <a:latin typeface="Calibri" pitchFamily="34" charset="0"/>
                <a:ea typeface="Calibri" pitchFamily="34" charset="-122"/>
                <a:cs typeface="Calibri" pitchFamily="34" charset="-120"/>
              </a:rPr>
              <a:t>7 payments of IDR 900m or more, five at 950-975m</a:t>
            </a:r>
            <a:endParaRPr lang="en-US" sz="1400" dirty="0"/>
          </a:p>
          <a:p>
            <a:pPr marL="342900" indent="-342900">
              <a:spcAft>
                <a:spcPts val="800"/>
              </a:spcAft>
              <a:buSzPct val="100000"/>
              <a:buChar char="•"/>
            </a:pPr>
            <a:r>
              <a:rPr lang="en-US" sz="1400" dirty="0">
                <a:solidFill>
                  <a:srgbClr val="0B1F3A"/>
                </a:solidFill>
                <a:latin typeface="Calibri" pitchFamily="34" charset="0"/>
                <a:ea typeface="Calibri" pitchFamily="34" charset="-122"/>
                <a:cs typeface="Calibri" pitchFamily="34" charset="-120"/>
              </a:rPr>
              <a:t>Alternates between both ESM accounts</a:t>
            </a:r>
            <a:endParaRPr lang="en-US" sz="1400" dirty="0"/>
          </a:p>
          <a:p>
            <a:pPr marL="342900" indent="-342900">
              <a:spcAft>
                <a:spcPts val="800"/>
              </a:spcAft>
              <a:buSzPct val="100000"/>
              <a:buChar char="•"/>
            </a:pPr>
            <a:r>
              <a:rPr lang="en-US" sz="1400" dirty="0">
                <a:solidFill>
                  <a:srgbClr val="0B1F3A"/>
                </a:solidFill>
                <a:latin typeface="Calibri" pitchFamily="34" charset="0"/>
                <a:ea typeface="Calibri" pitchFamily="34" charset="-122"/>
                <a:cs typeface="Calibri" pitchFamily="34" charset="-120"/>
              </a:rPr>
              <a:t>Only Payment Request, transfer proof and email on file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Q6, Q8 | AUTHORIZATION TEST</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The approval process was one person acting alone</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ESM Fraud Investigation | CPA Days 2026</a:t>
            </a:r>
            <a:endParaRPr lang="en-US" sz="1000" dirty="0"/>
          </a:p>
        </p:txBody>
      </p:sp>
      <p:sp>
        <p:nvSpPr>
          <p:cNvPr id="6" name="Shape 3"/>
          <p:cNvSpPr/>
          <p:nvPr/>
        </p:nvSpPr>
        <p:spPr>
          <a:xfrm>
            <a:off x="914400" y="1828800"/>
            <a:ext cx="1737360" cy="1737360"/>
          </a:xfrm>
          <a:prstGeom prst="ellipse">
            <a:avLst/>
          </a:prstGeom>
          <a:solidFill>
            <a:srgbClr val="0B1F3A"/>
          </a:solidFill>
          <a:ln w="12700">
            <a:solidFill>
              <a:srgbClr val="FFFFFF"/>
            </a:solidFill>
            <a:prstDash val="solid"/>
          </a:ln>
        </p:spPr>
      </p:sp>
      <p:sp>
        <p:nvSpPr>
          <p:cNvPr id="7" name="Text 4"/>
          <p:cNvSpPr txBox="1"/>
          <p:nvPr/>
        </p:nvSpPr>
        <p:spPr>
          <a:xfrm>
            <a:off x="914400" y="1828800"/>
            <a:ext cx="1737360" cy="1737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MAKER</a:t>
            </a:r>
            <a:endParaRPr lang="en-US" sz="1600" dirty="0"/>
          </a:p>
        </p:txBody>
      </p:sp>
      <p:sp>
        <p:nvSpPr>
          <p:cNvPr id="8" name="Text 5"/>
          <p:cNvSpPr txBox="1"/>
          <p:nvPr/>
        </p:nvSpPr>
        <p:spPr>
          <a:xfrm>
            <a:off x="2651760" y="2286000"/>
            <a:ext cx="640080" cy="822960"/>
          </a:xfrm>
          <a:prstGeom prst="rect">
            <a:avLst/>
          </a:prstGeom>
          <a:noFill/>
          <a:ln/>
        </p:spPr>
        <p:txBody>
          <a:bodyPr wrap="square" lIns="0" tIns="0" rIns="0" bIns="0" rtlCol="0" anchor="ctr"/>
          <a:lstStyle/>
          <a:p>
            <a:pPr algn="ctr" indent="0" marL="0">
              <a:buNone/>
            </a:pPr>
            <a:r>
              <a:rPr lang="en-US" sz="3600" b="1" dirty="0">
                <a:solidFill>
                  <a:srgbClr val="C8362E"/>
                </a:solidFill>
                <a:latin typeface="Cambria" pitchFamily="34" charset="0"/>
                <a:ea typeface="Cambria" pitchFamily="34" charset="-122"/>
                <a:cs typeface="Cambria" pitchFamily="34" charset="-120"/>
              </a:rPr>
              <a:t>=</a:t>
            </a:r>
            <a:endParaRPr lang="en-US" sz="3600" dirty="0"/>
          </a:p>
        </p:txBody>
      </p:sp>
      <p:sp>
        <p:nvSpPr>
          <p:cNvPr id="9" name="Shape 6"/>
          <p:cNvSpPr/>
          <p:nvPr/>
        </p:nvSpPr>
        <p:spPr>
          <a:xfrm>
            <a:off x="3291840" y="1828800"/>
            <a:ext cx="1737360" cy="1737360"/>
          </a:xfrm>
          <a:prstGeom prst="ellipse">
            <a:avLst/>
          </a:prstGeom>
          <a:solidFill>
            <a:srgbClr val="44546A"/>
          </a:solidFill>
          <a:ln w="12700">
            <a:solidFill>
              <a:srgbClr val="FFFFFF"/>
            </a:solidFill>
            <a:prstDash val="solid"/>
          </a:ln>
        </p:spPr>
      </p:sp>
      <p:sp>
        <p:nvSpPr>
          <p:cNvPr id="10" name="Text 7"/>
          <p:cNvSpPr txBox="1"/>
          <p:nvPr/>
        </p:nvSpPr>
        <p:spPr>
          <a:xfrm>
            <a:off x="3291840" y="1828800"/>
            <a:ext cx="1737360" cy="1737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CHECKER</a:t>
            </a:r>
            <a:endParaRPr lang="en-US" sz="1600" dirty="0"/>
          </a:p>
        </p:txBody>
      </p:sp>
      <p:sp>
        <p:nvSpPr>
          <p:cNvPr id="11" name="Text 8"/>
          <p:cNvSpPr txBox="1"/>
          <p:nvPr/>
        </p:nvSpPr>
        <p:spPr>
          <a:xfrm>
            <a:off x="5029200" y="2286000"/>
            <a:ext cx="640080" cy="822960"/>
          </a:xfrm>
          <a:prstGeom prst="rect">
            <a:avLst/>
          </a:prstGeom>
          <a:noFill/>
          <a:ln/>
        </p:spPr>
        <p:txBody>
          <a:bodyPr wrap="square" lIns="0" tIns="0" rIns="0" bIns="0" rtlCol="0" anchor="ctr"/>
          <a:lstStyle/>
          <a:p>
            <a:pPr algn="ctr" indent="0" marL="0">
              <a:buNone/>
            </a:pPr>
            <a:r>
              <a:rPr lang="en-US" sz="3600" b="1" dirty="0">
                <a:solidFill>
                  <a:srgbClr val="C8362E"/>
                </a:solidFill>
                <a:latin typeface="Cambria" pitchFamily="34" charset="0"/>
                <a:ea typeface="Cambria" pitchFamily="34" charset="-122"/>
                <a:cs typeface="Cambria" pitchFamily="34" charset="-120"/>
              </a:rPr>
              <a:t>=</a:t>
            </a:r>
            <a:endParaRPr lang="en-US" sz="3600" dirty="0"/>
          </a:p>
        </p:txBody>
      </p:sp>
      <p:sp>
        <p:nvSpPr>
          <p:cNvPr id="12" name="Shape 9"/>
          <p:cNvSpPr/>
          <p:nvPr/>
        </p:nvSpPr>
        <p:spPr>
          <a:xfrm>
            <a:off x="5669280" y="1828800"/>
            <a:ext cx="1737360" cy="1737360"/>
          </a:xfrm>
          <a:prstGeom prst="ellipse">
            <a:avLst/>
          </a:prstGeom>
          <a:solidFill>
            <a:srgbClr val="C8362E"/>
          </a:solidFill>
          <a:ln w="12700">
            <a:solidFill>
              <a:srgbClr val="FFFFFF"/>
            </a:solidFill>
            <a:prstDash val="solid"/>
          </a:ln>
        </p:spPr>
      </p:sp>
      <p:sp>
        <p:nvSpPr>
          <p:cNvPr id="13" name="Text 10"/>
          <p:cNvSpPr txBox="1"/>
          <p:nvPr/>
        </p:nvSpPr>
        <p:spPr>
          <a:xfrm>
            <a:off x="5669280" y="1828800"/>
            <a:ext cx="1737360" cy="1737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APPROVER</a:t>
            </a:r>
            <a:endParaRPr lang="en-US" sz="1600" dirty="0"/>
          </a:p>
        </p:txBody>
      </p:sp>
      <p:sp>
        <p:nvSpPr>
          <p:cNvPr id="14" name="Text 11"/>
          <p:cNvSpPr txBox="1"/>
          <p:nvPr/>
        </p:nvSpPr>
        <p:spPr>
          <a:xfrm>
            <a:off x="548640" y="3794760"/>
            <a:ext cx="7680960" cy="36576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USR-FIN-02 in all three roles</a:t>
            </a:r>
            <a:endParaRPr lang="en-US" sz="1600" dirty="0"/>
          </a:p>
        </p:txBody>
      </p:sp>
      <p:sp>
        <p:nvSpPr>
          <p:cNvPr id="15" name="Shape 12"/>
          <p:cNvSpPr/>
          <p:nvPr/>
        </p:nvSpPr>
        <p:spPr>
          <a:xfrm>
            <a:off x="8503920" y="1737360"/>
            <a:ext cx="3108960" cy="1463040"/>
          </a:xfrm>
          <a:prstGeom prst="roundRect">
            <a:avLst>
              <a:gd name="adj" fmla="val 7500"/>
            </a:avLst>
          </a:prstGeom>
          <a:solidFill>
            <a:srgbClr val="F3F5F9"/>
          </a:solidFill>
          <a:ln w="12700">
            <a:solidFill>
              <a:srgbClr val="F3F5F9"/>
            </a:solidFill>
            <a:prstDash val="solid"/>
          </a:ln>
        </p:spPr>
      </p:sp>
      <p:sp>
        <p:nvSpPr>
          <p:cNvPr id="16" name="Text 13"/>
          <p:cNvSpPr txBox="1"/>
          <p:nvPr/>
        </p:nvSpPr>
        <p:spPr>
          <a:xfrm>
            <a:off x="8686800" y="1874520"/>
            <a:ext cx="2743200" cy="731520"/>
          </a:xfrm>
          <a:prstGeom prst="rect">
            <a:avLst/>
          </a:prstGeom>
          <a:noFill/>
          <a:ln/>
        </p:spPr>
        <p:txBody>
          <a:bodyPr wrap="square" lIns="0" tIns="0" rIns="0" bIns="0" rtlCol="0" anchor="ctr"/>
          <a:lstStyle/>
          <a:p>
            <a:pPr indent="0" marL="0">
              <a:buNone/>
            </a:pPr>
            <a:r>
              <a:rPr lang="en-US" sz="3400" b="1" dirty="0">
                <a:solidFill>
                  <a:srgbClr val="C8362E"/>
                </a:solidFill>
                <a:latin typeface="Cambria" pitchFamily="34" charset="0"/>
                <a:ea typeface="Cambria" pitchFamily="34" charset="-122"/>
                <a:cs typeface="Cambria" pitchFamily="34" charset="-120"/>
              </a:rPr>
              <a:t>30 / 37</a:t>
            </a:r>
            <a:endParaRPr lang="en-US" sz="3400" dirty="0"/>
          </a:p>
        </p:txBody>
      </p:sp>
      <p:sp>
        <p:nvSpPr>
          <p:cNvPr id="17" name="Text 14"/>
          <p:cNvSpPr txBox="1"/>
          <p:nvPr/>
        </p:nvSpPr>
        <p:spPr>
          <a:xfrm>
            <a:off x="8686800" y="2542032"/>
            <a:ext cx="2743200" cy="585216"/>
          </a:xfrm>
          <a:prstGeom prst="rect">
            <a:avLst/>
          </a:prstGeom>
          <a:noFill/>
          <a:ln/>
        </p:spPr>
        <p:txBody>
          <a:bodyPr wrap="square" lIns="0" tIns="0" rIns="0" bIns="0" rtlCol="0" anchor="t"/>
          <a:lstStyle/>
          <a:p>
            <a:pPr indent="0" marL="0">
              <a:buNone/>
            </a:pPr>
            <a:r>
              <a:rPr lang="en-US" sz="1300" dirty="0">
                <a:solidFill>
                  <a:srgbClr val="44546A"/>
                </a:solidFill>
                <a:latin typeface="Calibri" pitchFamily="34" charset="0"/>
                <a:ea typeface="Calibri" pitchFamily="34" charset="-122"/>
                <a:cs typeface="Calibri" pitchFamily="34" charset="-120"/>
              </a:rPr>
              <a:t>payments with maker = checker = approver</a:t>
            </a:r>
            <a:endParaRPr lang="en-US" sz="1300" dirty="0"/>
          </a:p>
        </p:txBody>
      </p:sp>
      <p:sp>
        <p:nvSpPr>
          <p:cNvPr id="18" name="Shape 15"/>
          <p:cNvSpPr/>
          <p:nvPr/>
        </p:nvSpPr>
        <p:spPr>
          <a:xfrm>
            <a:off x="8503920" y="3337560"/>
            <a:ext cx="3108960" cy="1463040"/>
          </a:xfrm>
          <a:prstGeom prst="roundRect">
            <a:avLst>
              <a:gd name="adj" fmla="val 7500"/>
            </a:avLst>
          </a:prstGeom>
          <a:solidFill>
            <a:srgbClr val="F3F5F9"/>
          </a:solidFill>
          <a:ln w="12700">
            <a:solidFill>
              <a:srgbClr val="F3F5F9"/>
            </a:solidFill>
            <a:prstDash val="solid"/>
          </a:ln>
        </p:spPr>
      </p:sp>
      <p:sp>
        <p:nvSpPr>
          <p:cNvPr id="19" name="Text 16"/>
          <p:cNvSpPr txBox="1"/>
          <p:nvPr/>
        </p:nvSpPr>
        <p:spPr>
          <a:xfrm>
            <a:off x="8686800" y="3474720"/>
            <a:ext cx="2743200" cy="731520"/>
          </a:xfrm>
          <a:prstGeom prst="rect">
            <a:avLst/>
          </a:prstGeom>
          <a:noFill/>
          <a:ln/>
        </p:spPr>
        <p:txBody>
          <a:bodyPr wrap="square" lIns="0" tIns="0" rIns="0" bIns="0" rtlCol="0" anchor="ctr"/>
          <a:lstStyle/>
          <a:p>
            <a:pPr indent="0" marL="0">
              <a:buNone/>
            </a:pPr>
            <a:r>
              <a:rPr lang="en-US" sz="3400" b="1" dirty="0">
                <a:solidFill>
                  <a:srgbClr val="C8362E"/>
                </a:solidFill>
                <a:latin typeface="Cambria" pitchFamily="34" charset="0"/>
                <a:ea typeface="Cambria" pitchFamily="34" charset="-122"/>
                <a:cs typeface="Cambria" pitchFamily="34" charset="-120"/>
              </a:rPr>
              <a:t>37 / 37</a:t>
            </a:r>
            <a:endParaRPr lang="en-US" sz="3400" dirty="0"/>
          </a:p>
        </p:txBody>
      </p:sp>
      <p:sp>
        <p:nvSpPr>
          <p:cNvPr id="20" name="Text 17"/>
          <p:cNvSpPr txBox="1"/>
          <p:nvPr/>
        </p:nvSpPr>
        <p:spPr>
          <a:xfrm>
            <a:off x="8686800" y="4142232"/>
            <a:ext cx="2743200" cy="585216"/>
          </a:xfrm>
          <a:prstGeom prst="rect">
            <a:avLst/>
          </a:prstGeom>
          <a:noFill/>
          <a:ln/>
        </p:spPr>
        <p:txBody>
          <a:bodyPr wrap="square" lIns="0" tIns="0" rIns="0" bIns="0" rtlCol="0" anchor="t"/>
          <a:lstStyle/>
          <a:p>
            <a:pPr indent="0" marL="0">
              <a:buNone/>
            </a:pPr>
            <a:r>
              <a:rPr lang="en-US" sz="1300" dirty="0">
                <a:solidFill>
                  <a:srgbClr val="44546A"/>
                </a:solidFill>
                <a:latin typeface="Calibri" pitchFamily="34" charset="0"/>
                <a:ea typeface="Calibri" pitchFamily="34" charset="-122"/>
                <a:cs typeface="Calibri" pitchFamily="34" charset="-120"/>
              </a:rPr>
              <a:t>payments approved by one user</a:t>
            </a:r>
            <a:endParaRPr lang="en-US" sz="1300" dirty="0"/>
          </a:p>
        </p:txBody>
      </p:sp>
      <p:sp>
        <p:nvSpPr>
          <p:cNvPr id="21" name="Shape 18"/>
          <p:cNvSpPr/>
          <p:nvPr/>
        </p:nvSpPr>
        <p:spPr>
          <a:xfrm>
            <a:off x="8503920" y="4937760"/>
            <a:ext cx="3108960" cy="1188720"/>
          </a:xfrm>
          <a:prstGeom prst="roundRect">
            <a:avLst>
              <a:gd name="adj" fmla="val 9231"/>
            </a:avLst>
          </a:prstGeom>
          <a:solidFill>
            <a:srgbClr val="F3F5F9"/>
          </a:solidFill>
          <a:ln w="12700">
            <a:solidFill>
              <a:srgbClr val="F3F5F9"/>
            </a:solidFill>
            <a:prstDash val="solid"/>
          </a:ln>
        </p:spPr>
      </p:sp>
      <p:sp>
        <p:nvSpPr>
          <p:cNvPr id="22" name="Text 19"/>
          <p:cNvSpPr txBox="1"/>
          <p:nvPr/>
        </p:nvSpPr>
        <p:spPr>
          <a:xfrm>
            <a:off x="8686800" y="5074920"/>
            <a:ext cx="2743200" cy="594360"/>
          </a:xfrm>
          <a:prstGeom prst="rect">
            <a:avLst/>
          </a:prstGeom>
          <a:noFill/>
          <a:ln/>
        </p:spPr>
        <p:txBody>
          <a:bodyPr wrap="square" lIns="0" tIns="0" rIns="0" bIns="0" rtlCol="0" anchor="ctr"/>
          <a:lstStyle/>
          <a:p>
            <a:pPr indent="0" marL="0">
              <a:buNone/>
            </a:pPr>
            <a:r>
              <a:rPr lang="en-US" sz="3400" b="1" dirty="0">
                <a:solidFill>
                  <a:srgbClr val="C8362E"/>
                </a:solidFill>
                <a:latin typeface="Cambria" pitchFamily="34" charset="0"/>
                <a:ea typeface="Cambria" pitchFamily="34" charset="-122"/>
                <a:cs typeface="Cambria" pitchFamily="34" charset="-120"/>
              </a:rPr>
              <a:t>16 / 16</a:t>
            </a:r>
            <a:endParaRPr lang="en-US" sz="3400" dirty="0"/>
          </a:p>
        </p:txBody>
      </p:sp>
      <p:sp>
        <p:nvSpPr>
          <p:cNvPr id="23" name="Text 20"/>
          <p:cNvSpPr txBox="1"/>
          <p:nvPr/>
        </p:nvSpPr>
        <p:spPr>
          <a:xfrm>
            <a:off x="8686800" y="5591556"/>
            <a:ext cx="2743200" cy="475488"/>
          </a:xfrm>
          <a:prstGeom prst="rect">
            <a:avLst/>
          </a:prstGeom>
          <a:noFill/>
          <a:ln/>
        </p:spPr>
        <p:txBody>
          <a:bodyPr wrap="square" lIns="0" tIns="0" rIns="0" bIns="0" rtlCol="0" anchor="t"/>
          <a:lstStyle/>
          <a:p>
            <a:pPr indent="0" marL="0">
              <a:buNone/>
            </a:pPr>
            <a:r>
              <a:rPr lang="en-US" sz="1300" dirty="0">
                <a:solidFill>
                  <a:srgbClr val="44546A"/>
                </a:solidFill>
                <a:latin typeface="Calibri" pitchFamily="34" charset="0"/>
                <a:ea typeface="Calibri" pitchFamily="34" charset="-122"/>
                <a:cs typeface="Calibri" pitchFamily="34" charset="-120"/>
              </a:rPr>
              <a:t>RNS payments self-approved</a:t>
            </a:r>
            <a:endParaRPr lang="en-US" sz="1300" dirty="0"/>
          </a:p>
        </p:txBody>
      </p:sp>
      <p:sp>
        <p:nvSpPr>
          <p:cNvPr id="24" name="Shape 21"/>
          <p:cNvSpPr/>
          <p:nvPr/>
        </p:nvSpPr>
        <p:spPr>
          <a:xfrm>
            <a:off x="548640" y="4389120"/>
            <a:ext cx="7680960" cy="1737360"/>
          </a:xfrm>
          <a:prstGeom prst="roundRect">
            <a:avLst>
              <a:gd name="adj" fmla="val 6316"/>
            </a:avLst>
          </a:prstGeom>
          <a:solidFill>
            <a:srgbClr val="FFF4DF"/>
          </a:solidFill>
          <a:ln w="12700">
            <a:solidFill>
              <a:srgbClr val="FFF4DF"/>
            </a:solidFill>
            <a:prstDash val="solid"/>
          </a:ln>
        </p:spPr>
      </p:sp>
      <p:sp>
        <p:nvSpPr>
          <p:cNvPr id="25" name="Text 22"/>
          <p:cNvSpPr txBox="1"/>
          <p:nvPr/>
        </p:nvSpPr>
        <p:spPr>
          <a:xfrm>
            <a:off x="777240" y="4480560"/>
            <a:ext cx="7223760" cy="1554480"/>
          </a:xfrm>
          <a:prstGeom prst="rect">
            <a:avLst/>
          </a:prstGeom>
          <a:noFill/>
          <a:ln/>
        </p:spPr>
        <p:txBody>
          <a:bodyPr wrap="square" lIns="0" tIns="0" rIns="0" bIns="0" rtlCol="0" anchor="ctr"/>
          <a:lstStyle/>
          <a:p>
            <a:pPr indent="0" marL="0">
              <a:buNone/>
            </a:pPr>
            <a:r>
              <a:rPr lang="en-US" sz="1500" dirty="0">
                <a:solidFill>
                  <a:srgbClr val="0B1F3A"/>
                </a:solidFill>
                <a:latin typeface="Calibri" pitchFamily="34" charset="0"/>
                <a:ea typeface="Calibri" pitchFamily="34" charset="-122"/>
                <a:cs typeface="Calibri" pitchFamily="34" charset="-120"/>
              </a:rPr>
              <a:t>Limitation: user master and approval matrix were not provided, so we do not name the user or test authority limits. The near-1bn pattern is an analyst threshold (IDR 900m, editable in workbook).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Q4, Q6 | BENEFICIARY &amp; RELATIONSHIP TESTS</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Vendor and bank-account records raise more questions</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ESM Fraud Investigation | CPA Days 2026</a:t>
            </a:r>
            <a:endParaRPr lang="en-US" sz="1000" dirty="0"/>
          </a:p>
        </p:txBody>
      </p:sp>
      <p:sp>
        <p:nvSpPr>
          <p:cNvPr id="6" name="Shape 3"/>
          <p:cNvSpPr/>
          <p:nvPr/>
        </p:nvSpPr>
        <p:spPr>
          <a:xfrm>
            <a:off x="548640" y="1691640"/>
            <a:ext cx="11064240" cy="786384"/>
          </a:xfrm>
          <a:prstGeom prst="roundRect">
            <a:avLst>
              <a:gd name="adj" fmla="val 13953"/>
            </a:avLst>
          </a:prstGeom>
          <a:solidFill>
            <a:srgbClr val="F3F5F9"/>
          </a:solidFill>
          <a:ln w="12700">
            <a:solidFill>
              <a:srgbClr val="F3F5F9"/>
            </a:solidFill>
            <a:prstDash val="solid"/>
          </a:ln>
        </p:spPr>
      </p:sp>
      <p:sp>
        <p:nvSpPr>
          <p:cNvPr id="7" name="Shape 4"/>
          <p:cNvSpPr/>
          <p:nvPr/>
        </p:nvSpPr>
        <p:spPr>
          <a:xfrm>
            <a:off x="731520" y="1901952"/>
            <a:ext cx="365760" cy="365760"/>
          </a:xfrm>
          <a:prstGeom prst="ellipse">
            <a:avLst/>
          </a:prstGeom>
          <a:solidFill>
            <a:srgbClr val="C8362E"/>
          </a:solidFill>
          <a:ln w="12700">
            <a:solidFill>
              <a:srgbClr val="C8362E"/>
            </a:solidFill>
            <a:prstDash val="solid"/>
          </a:ln>
        </p:spPr>
      </p:sp>
      <p:sp>
        <p:nvSpPr>
          <p:cNvPr id="8" name="Text 5"/>
          <p:cNvSpPr txBox="1"/>
          <p:nvPr/>
        </p:nvSpPr>
        <p:spPr>
          <a:xfrm>
            <a:off x="1325880" y="1691640"/>
            <a:ext cx="3474720" cy="786384"/>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RNS is set up differently</a:t>
            </a:r>
            <a:endParaRPr lang="en-US" sz="1600" dirty="0"/>
          </a:p>
        </p:txBody>
      </p:sp>
      <p:sp>
        <p:nvSpPr>
          <p:cNvPr id="9" name="Text 6"/>
          <p:cNvSpPr txBox="1"/>
          <p:nvPr/>
        </p:nvSpPr>
        <p:spPr>
          <a:xfrm>
            <a:off x="4937760" y="1691640"/>
            <a:ext cx="6492240" cy="786384"/>
          </a:xfrm>
          <a:prstGeom prst="rect">
            <a:avLst/>
          </a:prstGeom>
          <a:noFill/>
          <a:ln/>
        </p:spPr>
        <p:txBody>
          <a:bodyPr wrap="square" lIns="0" tIns="0" rIns="0" bIns="0" rtlCol="0" anchor="ctr"/>
          <a:lstStyle/>
          <a:p>
            <a:pPr indent="0" marL="0">
              <a:buNone/>
            </a:pPr>
            <a:r>
              <a:rPr lang="en-US" sz="1400" dirty="0">
                <a:solidFill>
                  <a:srgbClr val="44546A"/>
                </a:solidFill>
                <a:latin typeface="Calibri" pitchFamily="34" charset="0"/>
                <a:ea typeface="Calibri" pitchFamily="34" charset="-122"/>
                <a:cs typeface="Calibri" pitchFamily="34" charset="-120"/>
              </a:rPr>
              <a:t>ID PTY-RNS, Finance Admin; bank account prepared by Finance, approved by Finance Head</a:t>
            </a:r>
            <a:endParaRPr lang="en-US" sz="1400" dirty="0"/>
          </a:p>
        </p:txBody>
      </p:sp>
      <p:sp>
        <p:nvSpPr>
          <p:cNvPr id="10" name="Shape 7"/>
          <p:cNvSpPr/>
          <p:nvPr/>
        </p:nvSpPr>
        <p:spPr>
          <a:xfrm>
            <a:off x="548640" y="2587752"/>
            <a:ext cx="11064240" cy="786384"/>
          </a:xfrm>
          <a:prstGeom prst="roundRect">
            <a:avLst>
              <a:gd name="adj" fmla="val 13953"/>
            </a:avLst>
          </a:prstGeom>
          <a:solidFill>
            <a:srgbClr val="F3F5F9"/>
          </a:solidFill>
          <a:ln w="12700">
            <a:solidFill>
              <a:srgbClr val="F3F5F9"/>
            </a:solidFill>
            <a:prstDash val="solid"/>
          </a:ln>
        </p:spPr>
      </p:sp>
      <p:sp>
        <p:nvSpPr>
          <p:cNvPr id="11" name="Shape 8"/>
          <p:cNvSpPr/>
          <p:nvPr/>
        </p:nvSpPr>
        <p:spPr>
          <a:xfrm>
            <a:off x="731520" y="2798064"/>
            <a:ext cx="365760" cy="365760"/>
          </a:xfrm>
          <a:prstGeom prst="ellipse">
            <a:avLst/>
          </a:prstGeom>
          <a:solidFill>
            <a:srgbClr val="F2A541"/>
          </a:solidFill>
          <a:ln w="12700">
            <a:solidFill>
              <a:srgbClr val="F2A541"/>
            </a:solidFill>
            <a:prstDash val="solid"/>
          </a:ln>
        </p:spPr>
      </p:sp>
      <p:sp>
        <p:nvSpPr>
          <p:cNvPr id="12" name="Text 9"/>
          <p:cNvSpPr txBox="1"/>
          <p:nvPr/>
        </p:nvSpPr>
        <p:spPr>
          <a:xfrm>
            <a:off x="1325880" y="2587752"/>
            <a:ext cx="3474720" cy="786384"/>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17 payments, IDR 5.23bn</a:t>
            </a:r>
            <a:endParaRPr lang="en-US" sz="1600" dirty="0"/>
          </a:p>
        </p:txBody>
      </p:sp>
      <p:sp>
        <p:nvSpPr>
          <p:cNvPr id="13" name="Text 10"/>
          <p:cNvSpPr txBox="1"/>
          <p:nvPr/>
        </p:nvSpPr>
        <p:spPr>
          <a:xfrm>
            <a:off x="4937760" y="2587752"/>
            <a:ext cx="6492240" cy="786384"/>
          </a:xfrm>
          <a:prstGeom prst="rect">
            <a:avLst/>
          </a:prstGeom>
          <a:noFill/>
          <a:ln/>
        </p:spPr>
        <p:txBody>
          <a:bodyPr wrap="square" lIns="0" tIns="0" rIns="0" bIns="0" rtlCol="0" anchor="ctr"/>
          <a:lstStyle/>
          <a:p>
            <a:pPr indent="0" marL="0">
              <a:buNone/>
            </a:pPr>
            <a:r>
              <a:rPr lang="en-US" sz="1400" dirty="0">
                <a:solidFill>
                  <a:srgbClr val="44546A"/>
                </a:solidFill>
                <a:latin typeface="Calibri" pitchFamily="34" charset="0"/>
                <a:ea typeface="Calibri" pitchFamily="34" charset="-122"/>
                <a:cs typeface="Calibri" pitchFamily="34" charset="-120"/>
              </a:rPr>
              <a:t>sent to accounts not in the change-log extract (extract only, so an investigation point)</a:t>
            </a:r>
            <a:endParaRPr lang="en-US" sz="1400" dirty="0"/>
          </a:p>
        </p:txBody>
      </p:sp>
      <p:sp>
        <p:nvSpPr>
          <p:cNvPr id="14" name="Shape 11"/>
          <p:cNvSpPr/>
          <p:nvPr/>
        </p:nvSpPr>
        <p:spPr>
          <a:xfrm>
            <a:off x="548640" y="3483864"/>
            <a:ext cx="11064240" cy="786384"/>
          </a:xfrm>
          <a:prstGeom prst="roundRect">
            <a:avLst>
              <a:gd name="adj" fmla="val 13953"/>
            </a:avLst>
          </a:prstGeom>
          <a:solidFill>
            <a:srgbClr val="F3F5F9"/>
          </a:solidFill>
          <a:ln w="12700">
            <a:solidFill>
              <a:srgbClr val="F3F5F9"/>
            </a:solidFill>
            <a:prstDash val="solid"/>
          </a:ln>
        </p:spPr>
      </p:sp>
      <p:sp>
        <p:nvSpPr>
          <p:cNvPr id="15" name="Shape 12"/>
          <p:cNvSpPr/>
          <p:nvPr/>
        </p:nvSpPr>
        <p:spPr>
          <a:xfrm>
            <a:off x="731520" y="3694176"/>
            <a:ext cx="365760" cy="365760"/>
          </a:xfrm>
          <a:prstGeom prst="ellipse">
            <a:avLst/>
          </a:prstGeom>
          <a:solidFill>
            <a:srgbClr val="F2A541"/>
          </a:solidFill>
          <a:ln w="12700">
            <a:solidFill>
              <a:srgbClr val="F2A541"/>
            </a:solidFill>
            <a:prstDash val="solid"/>
          </a:ln>
        </p:spPr>
      </p:sp>
      <p:sp>
        <p:nvSpPr>
          <p:cNvPr id="16" name="Text 13"/>
          <p:cNvSpPr txBox="1"/>
          <p:nvPr/>
        </p:nvSpPr>
        <p:spPr>
          <a:xfrm>
            <a:off x="1325880" y="3483864"/>
            <a:ext cx="3474720" cy="786384"/>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Name mismatch</a:t>
            </a:r>
            <a:endParaRPr lang="en-US" sz="1600" dirty="0"/>
          </a:p>
        </p:txBody>
      </p:sp>
      <p:sp>
        <p:nvSpPr>
          <p:cNvPr id="17" name="Text 14"/>
          <p:cNvSpPr txBox="1"/>
          <p:nvPr/>
        </p:nvSpPr>
        <p:spPr>
          <a:xfrm>
            <a:off x="4937760" y="3483864"/>
            <a:ext cx="6492240" cy="786384"/>
          </a:xfrm>
          <a:prstGeom prst="rect">
            <a:avLst/>
          </a:prstGeom>
          <a:noFill/>
          <a:ln/>
        </p:spPr>
        <p:txBody>
          <a:bodyPr wrap="square" lIns="0" tIns="0" rIns="0" bIns="0" rtlCol="0" anchor="ctr"/>
          <a:lstStyle/>
          <a:p>
            <a:pPr indent="0" marL="0">
              <a:buNone/>
            </a:pPr>
            <a:r>
              <a:rPr lang="en-US" sz="1400" dirty="0">
                <a:solidFill>
                  <a:srgbClr val="44546A"/>
                </a:solidFill>
                <a:latin typeface="Calibri" pitchFamily="34" charset="0"/>
                <a:ea typeface="Calibri" pitchFamily="34" charset="-122"/>
                <a:cs typeface="Calibri" pitchFamily="34" charset="-120"/>
              </a:rPr>
              <a:t>"Laut Jawa Tomasan" in payments vs "Laut Jawa Kemasan" in vendor master</a:t>
            </a:r>
            <a:endParaRPr lang="en-US" sz="1400" dirty="0"/>
          </a:p>
        </p:txBody>
      </p:sp>
      <p:sp>
        <p:nvSpPr>
          <p:cNvPr id="18" name="Shape 15"/>
          <p:cNvSpPr/>
          <p:nvPr/>
        </p:nvSpPr>
        <p:spPr>
          <a:xfrm>
            <a:off x="548640" y="4379976"/>
            <a:ext cx="11064240" cy="786384"/>
          </a:xfrm>
          <a:prstGeom prst="roundRect">
            <a:avLst>
              <a:gd name="adj" fmla="val 13953"/>
            </a:avLst>
          </a:prstGeom>
          <a:solidFill>
            <a:srgbClr val="F3F5F9"/>
          </a:solidFill>
          <a:ln w="12700">
            <a:solidFill>
              <a:srgbClr val="F3F5F9"/>
            </a:solidFill>
            <a:prstDash val="solid"/>
          </a:ln>
        </p:spPr>
      </p:sp>
      <p:sp>
        <p:nvSpPr>
          <p:cNvPr id="19" name="Shape 16"/>
          <p:cNvSpPr/>
          <p:nvPr/>
        </p:nvSpPr>
        <p:spPr>
          <a:xfrm>
            <a:off x="731520" y="4590288"/>
            <a:ext cx="365760" cy="365760"/>
          </a:xfrm>
          <a:prstGeom prst="ellipse">
            <a:avLst/>
          </a:prstGeom>
          <a:solidFill>
            <a:srgbClr val="F2A541"/>
          </a:solidFill>
          <a:ln w="12700">
            <a:solidFill>
              <a:srgbClr val="F2A541"/>
            </a:solidFill>
            <a:prstDash val="solid"/>
          </a:ln>
        </p:spPr>
      </p:sp>
      <p:sp>
        <p:nvSpPr>
          <p:cNvPr id="20" name="Text 17"/>
          <p:cNvSpPr txBox="1"/>
          <p:nvPr/>
        </p:nvSpPr>
        <p:spPr>
          <a:xfrm>
            <a:off x="1325880" y="4379976"/>
            <a:ext cx="3474720" cy="786384"/>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Timor Properti account</a:t>
            </a:r>
            <a:endParaRPr lang="en-US" sz="1600" dirty="0"/>
          </a:p>
        </p:txBody>
      </p:sp>
      <p:sp>
        <p:nvSpPr>
          <p:cNvPr id="21" name="Text 18"/>
          <p:cNvSpPr txBox="1"/>
          <p:nvPr/>
        </p:nvSpPr>
        <p:spPr>
          <a:xfrm>
            <a:off x="4937760" y="4379976"/>
            <a:ext cx="6492240" cy="786384"/>
          </a:xfrm>
          <a:prstGeom prst="rect">
            <a:avLst/>
          </a:prstGeom>
          <a:noFill/>
          <a:ln/>
        </p:spPr>
        <p:txBody>
          <a:bodyPr wrap="square" lIns="0" tIns="0" rIns="0" bIns="0" rtlCol="0" anchor="ctr"/>
          <a:lstStyle/>
          <a:p>
            <a:pPr indent="0" marL="0">
              <a:buNone/>
            </a:pPr>
            <a:r>
              <a:rPr lang="en-US" sz="1400" dirty="0">
                <a:solidFill>
                  <a:srgbClr val="44546A"/>
                </a:solidFill>
                <a:latin typeface="Calibri" pitchFamily="34" charset="0"/>
                <a:ea typeface="Calibri" pitchFamily="34" charset="-122"/>
                <a:cs typeface="Calibri" pitchFamily="34" charset="-120"/>
              </a:rPr>
              <a:t>registered as PROP-001, but paid to VND-TP-01 and VND-TP-02</a:t>
            </a:r>
            <a:endParaRPr lang="en-US" sz="1400" dirty="0"/>
          </a:p>
        </p:txBody>
      </p:sp>
      <p:sp>
        <p:nvSpPr>
          <p:cNvPr id="22" name="Shape 19"/>
          <p:cNvSpPr/>
          <p:nvPr/>
        </p:nvSpPr>
        <p:spPr>
          <a:xfrm>
            <a:off x="548640" y="5276088"/>
            <a:ext cx="11064240" cy="786384"/>
          </a:xfrm>
          <a:prstGeom prst="roundRect">
            <a:avLst>
              <a:gd name="adj" fmla="val 13953"/>
            </a:avLst>
          </a:prstGeom>
          <a:solidFill>
            <a:srgbClr val="F3F5F9"/>
          </a:solidFill>
          <a:ln w="12700">
            <a:solidFill>
              <a:srgbClr val="F3F5F9"/>
            </a:solidFill>
            <a:prstDash val="solid"/>
          </a:ln>
        </p:spPr>
      </p:sp>
      <p:sp>
        <p:nvSpPr>
          <p:cNvPr id="23" name="Shape 20"/>
          <p:cNvSpPr/>
          <p:nvPr/>
        </p:nvSpPr>
        <p:spPr>
          <a:xfrm>
            <a:off x="731520" y="5486400"/>
            <a:ext cx="365760" cy="365760"/>
          </a:xfrm>
          <a:prstGeom prst="ellipse">
            <a:avLst/>
          </a:prstGeom>
          <a:solidFill>
            <a:srgbClr val="44546A"/>
          </a:solidFill>
          <a:ln w="12700">
            <a:solidFill>
              <a:srgbClr val="44546A"/>
            </a:solidFill>
            <a:prstDash val="solid"/>
          </a:ln>
        </p:spPr>
      </p:sp>
      <p:sp>
        <p:nvSpPr>
          <p:cNvPr id="24" name="Text 21"/>
          <p:cNvSpPr txBox="1"/>
          <p:nvPr/>
        </p:nvSpPr>
        <p:spPr>
          <a:xfrm>
            <a:off x="1325880" y="5276088"/>
            <a:ext cx="3474720" cy="786384"/>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RNS address vs employee data</a:t>
            </a:r>
            <a:endParaRPr lang="en-US" sz="1600" dirty="0"/>
          </a:p>
        </p:txBody>
      </p:sp>
      <p:sp>
        <p:nvSpPr>
          <p:cNvPr id="25" name="Text 22"/>
          <p:cNvSpPr txBox="1"/>
          <p:nvPr/>
        </p:nvSpPr>
        <p:spPr>
          <a:xfrm>
            <a:off x="4937760" y="5276088"/>
            <a:ext cx="6492240" cy="786384"/>
          </a:xfrm>
          <a:prstGeom prst="rect">
            <a:avLst/>
          </a:prstGeom>
          <a:noFill/>
          <a:ln/>
        </p:spPr>
        <p:txBody>
          <a:bodyPr wrap="square" lIns="0" tIns="0" rIns="0" bIns="0" rtlCol="0" anchor="ctr"/>
          <a:lstStyle/>
          <a:p>
            <a:pPr indent="0" marL="0">
              <a:buNone/>
            </a:pPr>
            <a:r>
              <a:rPr lang="en-US" sz="1400" dirty="0">
                <a:solidFill>
                  <a:srgbClr val="44546A"/>
                </a:solidFill>
                <a:latin typeface="Calibri" pitchFamily="34" charset="0"/>
                <a:ea typeface="Calibri" pitchFamily="34" charset="-122"/>
                <a:cs typeface="Calibri" pitchFamily="34" charset="-120"/>
              </a:rPr>
              <a:t>cannot be tested: EV-07 / EV-08 not provided. No conclusion drawn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Q5, Q6 | EVIDENCE ASSESSMENT</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Approval exists, evidence does not</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ESM Fraud Investigation | CPA Days 2026</a:t>
            </a:r>
            <a:endParaRPr lang="en-US" sz="1000" dirty="0"/>
          </a:p>
        </p:txBody>
      </p:sp>
      <p:sp>
        <p:nvSpPr>
          <p:cNvPr id="6" name="Shape 3"/>
          <p:cNvSpPr/>
          <p:nvPr/>
        </p:nvSpPr>
        <p:spPr>
          <a:xfrm>
            <a:off x="548640" y="1691640"/>
            <a:ext cx="3566160" cy="4434840"/>
          </a:xfrm>
          <a:prstGeom prst="roundRect">
            <a:avLst>
              <a:gd name="adj" fmla="val 3077"/>
            </a:avLst>
          </a:prstGeom>
          <a:solidFill>
            <a:srgbClr val="F3F5F9"/>
          </a:solidFill>
          <a:ln w="12700">
            <a:solidFill>
              <a:srgbClr val="F3F5F9"/>
            </a:solidFill>
            <a:prstDash val="solid"/>
          </a:ln>
        </p:spPr>
      </p:sp>
      <p:sp>
        <p:nvSpPr>
          <p:cNvPr id="7" name="Shape 4"/>
          <p:cNvSpPr/>
          <p:nvPr/>
        </p:nvSpPr>
        <p:spPr>
          <a:xfrm>
            <a:off x="731520" y="1874520"/>
            <a:ext cx="3200400" cy="822960"/>
          </a:xfrm>
          <a:prstGeom prst="roundRect">
            <a:avLst>
              <a:gd name="adj" fmla="val 11111"/>
            </a:avLst>
          </a:prstGeom>
          <a:solidFill>
            <a:srgbClr val="2E8B57"/>
          </a:solidFill>
          <a:ln w="12700">
            <a:solidFill>
              <a:srgbClr val="2E8B57"/>
            </a:solidFill>
            <a:prstDash val="solid"/>
          </a:ln>
        </p:spPr>
      </p:sp>
      <p:sp>
        <p:nvSpPr>
          <p:cNvPr id="8" name="Text 5"/>
          <p:cNvSpPr txBox="1"/>
          <p:nvPr/>
        </p:nvSpPr>
        <p:spPr>
          <a:xfrm>
            <a:off x="822960" y="1901952"/>
            <a:ext cx="3017520" cy="4114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Full package</a:t>
            </a:r>
            <a:endParaRPr lang="en-US" sz="1800" dirty="0"/>
          </a:p>
        </p:txBody>
      </p:sp>
      <p:sp>
        <p:nvSpPr>
          <p:cNvPr id="9" name="Text 6"/>
          <p:cNvSpPr txBox="1"/>
          <p:nvPr/>
        </p:nvSpPr>
        <p:spPr>
          <a:xfrm>
            <a:off x="822960" y="2304288"/>
            <a:ext cx="3017520" cy="3200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9 payments | IDR 2.0bn</a:t>
            </a:r>
            <a:endParaRPr lang="en-US" sz="1300" dirty="0"/>
          </a:p>
        </p:txBody>
      </p:sp>
      <p:sp>
        <p:nvSpPr>
          <p:cNvPr id="10" name="Text 7"/>
          <p:cNvSpPr txBox="1"/>
          <p:nvPr/>
        </p:nvSpPr>
        <p:spPr>
          <a:xfrm>
            <a:off x="822960" y="2926080"/>
            <a:ext cx="3017520" cy="30175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Contract / PO / SPK</a:t>
            </a:r>
            <a:endParaRPr lang="en-US" sz="1500" dirty="0"/>
          </a:p>
          <a:p>
            <a:pPr marL="342900" indent="-3429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Invoice</a:t>
            </a:r>
            <a:endParaRPr lang="en-US" sz="1500" dirty="0"/>
          </a:p>
          <a:p>
            <a:pPr marL="342900" indent="-3429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Work / hand-over report</a:t>
            </a:r>
            <a:endParaRPr lang="en-US" sz="1500" dirty="0"/>
          </a:p>
          <a:p>
            <a:pPr marL="342900" indent="-3429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Proof of receipt</a:t>
            </a:r>
            <a:endParaRPr lang="en-US" sz="1500" dirty="0"/>
          </a:p>
          <a:p>
            <a:pPr marL="342900" indent="-3429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Board approval</a:t>
            </a:r>
            <a:endParaRPr lang="en-US" sz="1500" dirty="0"/>
          </a:p>
        </p:txBody>
      </p:sp>
      <p:sp>
        <p:nvSpPr>
          <p:cNvPr id="11" name="Shape 8"/>
          <p:cNvSpPr/>
          <p:nvPr/>
        </p:nvSpPr>
        <p:spPr>
          <a:xfrm>
            <a:off x="4297680" y="1691640"/>
            <a:ext cx="3566160" cy="4434840"/>
          </a:xfrm>
          <a:prstGeom prst="roundRect">
            <a:avLst>
              <a:gd name="adj" fmla="val 3077"/>
            </a:avLst>
          </a:prstGeom>
          <a:solidFill>
            <a:srgbClr val="F3F5F9"/>
          </a:solidFill>
          <a:ln w="12700">
            <a:solidFill>
              <a:srgbClr val="F3F5F9"/>
            </a:solidFill>
            <a:prstDash val="solid"/>
          </a:ln>
        </p:spPr>
      </p:sp>
      <p:sp>
        <p:nvSpPr>
          <p:cNvPr id="12" name="Shape 9"/>
          <p:cNvSpPr/>
          <p:nvPr/>
        </p:nvSpPr>
        <p:spPr>
          <a:xfrm>
            <a:off x="4480560" y="1874520"/>
            <a:ext cx="3200400" cy="822960"/>
          </a:xfrm>
          <a:prstGeom prst="roundRect">
            <a:avLst>
              <a:gd name="adj" fmla="val 11111"/>
            </a:avLst>
          </a:prstGeom>
          <a:solidFill>
            <a:srgbClr val="F2A541"/>
          </a:solidFill>
          <a:ln w="12700">
            <a:solidFill>
              <a:srgbClr val="F2A541"/>
            </a:solidFill>
            <a:prstDash val="solid"/>
          </a:ln>
        </p:spPr>
      </p:sp>
      <p:sp>
        <p:nvSpPr>
          <p:cNvPr id="13" name="Text 10"/>
          <p:cNvSpPr txBox="1"/>
          <p:nvPr/>
        </p:nvSpPr>
        <p:spPr>
          <a:xfrm>
            <a:off x="4572000" y="1901952"/>
            <a:ext cx="3017520" cy="4114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Partial documents</a:t>
            </a:r>
            <a:endParaRPr lang="en-US" sz="1800" dirty="0"/>
          </a:p>
        </p:txBody>
      </p:sp>
      <p:sp>
        <p:nvSpPr>
          <p:cNvPr id="14" name="Text 11"/>
          <p:cNvSpPr txBox="1"/>
          <p:nvPr/>
        </p:nvSpPr>
        <p:spPr>
          <a:xfrm>
            <a:off x="4572000" y="2304288"/>
            <a:ext cx="3017520" cy="3200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12 payments | IDR 4.58bn</a:t>
            </a:r>
            <a:endParaRPr lang="en-US" sz="1300" dirty="0"/>
          </a:p>
        </p:txBody>
      </p:sp>
      <p:sp>
        <p:nvSpPr>
          <p:cNvPr id="15" name="Text 12"/>
          <p:cNvSpPr txBox="1"/>
          <p:nvPr/>
        </p:nvSpPr>
        <p:spPr>
          <a:xfrm>
            <a:off x="4572000" y="2926080"/>
            <a:ext cx="3017520" cy="30175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Invoice or email only</a:t>
            </a:r>
            <a:endParaRPr lang="en-US" sz="1500" dirty="0"/>
          </a:p>
          <a:p>
            <a:pPr marL="342900" indent="-3429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Contract, PO or work report missing</a:t>
            </a:r>
            <a:endParaRPr lang="en-US" sz="1500" dirty="0"/>
          </a:p>
          <a:p>
            <a:pPr marL="342900" indent="-3429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Proof of receipt missing</a:t>
            </a:r>
            <a:endParaRPr lang="en-US" sz="1500" dirty="0"/>
          </a:p>
          <a:p>
            <a:pPr marL="342900" indent="-3429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Several to unregistered accounts</a:t>
            </a:r>
            <a:endParaRPr lang="en-US" sz="1500" dirty="0"/>
          </a:p>
        </p:txBody>
      </p:sp>
      <p:sp>
        <p:nvSpPr>
          <p:cNvPr id="16" name="Shape 13"/>
          <p:cNvSpPr/>
          <p:nvPr/>
        </p:nvSpPr>
        <p:spPr>
          <a:xfrm>
            <a:off x="8046720" y="1691640"/>
            <a:ext cx="3566160" cy="4434840"/>
          </a:xfrm>
          <a:prstGeom prst="roundRect">
            <a:avLst>
              <a:gd name="adj" fmla="val 3077"/>
            </a:avLst>
          </a:prstGeom>
          <a:solidFill>
            <a:srgbClr val="F3F5F9"/>
          </a:solidFill>
          <a:ln w="12700">
            <a:solidFill>
              <a:srgbClr val="F3F5F9"/>
            </a:solidFill>
            <a:prstDash val="solid"/>
          </a:ln>
        </p:spPr>
      </p:sp>
      <p:sp>
        <p:nvSpPr>
          <p:cNvPr id="17" name="Shape 14"/>
          <p:cNvSpPr/>
          <p:nvPr/>
        </p:nvSpPr>
        <p:spPr>
          <a:xfrm>
            <a:off x="8229600" y="1874520"/>
            <a:ext cx="3200400" cy="822960"/>
          </a:xfrm>
          <a:prstGeom prst="roundRect">
            <a:avLst>
              <a:gd name="adj" fmla="val 11111"/>
            </a:avLst>
          </a:prstGeom>
          <a:solidFill>
            <a:srgbClr val="C8362E"/>
          </a:solidFill>
          <a:ln w="12700">
            <a:solidFill>
              <a:srgbClr val="C8362E"/>
            </a:solidFill>
            <a:prstDash val="solid"/>
          </a:ln>
        </p:spPr>
      </p:sp>
      <p:sp>
        <p:nvSpPr>
          <p:cNvPr id="18" name="Text 15"/>
          <p:cNvSpPr txBox="1"/>
          <p:nvPr/>
        </p:nvSpPr>
        <p:spPr>
          <a:xfrm>
            <a:off x="8321040" y="1901952"/>
            <a:ext cx="3017520" cy="4114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Payment request only</a:t>
            </a:r>
            <a:endParaRPr lang="en-US" sz="1800" dirty="0"/>
          </a:p>
        </p:txBody>
      </p:sp>
      <p:sp>
        <p:nvSpPr>
          <p:cNvPr id="19" name="Text 16"/>
          <p:cNvSpPr txBox="1"/>
          <p:nvPr/>
        </p:nvSpPr>
        <p:spPr>
          <a:xfrm>
            <a:off x="8321040" y="2304288"/>
            <a:ext cx="3017520" cy="3200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15 RNS payments | IDR 13.0bn</a:t>
            </a:r>
            <a:endParaRPr lang="en-US" sz="1300" dirty="0"/>
          </a:p>
        </p:txBody>
      </p:sp>
      <p:sp>
        <p:nvSpPr>
          <p:cNvPr id="20" name="Text 17"/>
          <p:cNvSpPr txBox="1"/>
          <p:nvPr/>
        </p:nvSpPr>
        <p:spPr>
          <a:xfrm>
            <a:off x="8321040" y="2926080"/>
            <a:ext cx="3017520" cy="30175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Payment request</a:t>
            </a:r>
            <a:endParaRPr lang="en-US" sz="1500" dirty="0"/>
          </a:p>
          <a:p>
            <a:pPr marL="342900" indent="-3429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Transfer evidence</a:t>
            </a:r>
            <a:endParaRPr lang="en-US" sz="1500" dirty="0"/>
          </a:p>
          <a:p>
            <a:pPr marL="342900" indent="-3429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Internal email</a:t>
            </a:r>
            <a:endParaRPr lang="en-US" sz="1500" dirty="0"/>
          </a:p>
          <a:p>
            <a:pPr marL="342900" indent="-3429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No contract, no work, no receipt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Q7 | CONCLUSION</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Conclusion: suspected fraud, unresolved and legitimate</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ESM Fraud Investigation | CPA Days 2026</a:t>
            </a:r>
            <a:endParaRPr lang="en-US" sz="1000" dirty="0"/>
          </a:p>
        </p:txBody>
      </p:sp>
      <p:sp>
        <p:nvSpPr>
          <p:cNvPr id="6" name="Shape 3"/>
          <p:cNvSpPr/>
          <p:nvPr/>
        </p:nvSpPr>
        <p:spPr>
          <a:xfrm>
            <a:off x="548640" y="1691640"/>
            <a:ext cx="3566160" cy="4434840"/>
          </a:xfrm>
          <a:prstGeom prst="roundRect">
            <a:avLst>
              <a:gd name="adj" fmla="val 3077"/>
            </a:avLst>
          </a:prstGeom>
          <a:solidFill>
            <a:srgbClr val="F3F5F9"/>
          </a:solidFill>
          <a:ln w="12700">
            <a:solidFill>
              <a:srgbClr val="F3F5F9"/>
            </a:solidFill>
            <a:prstDash val="solid"/>
          </a:ln>
        </p:spPr>
      </p:sp>
      <p:sp>
        <p:nvSpPr>
          <p:cNvPr id="7" name="Shape 4"/>
          <p:cNvSpPr/>
          <p:nvPr/>
        </p:nvSpPr>
        <p:spPr>
          <a:xfrm>
            <a:off x="731520" y="1874520"/>
            <a:ext cx="3200400" cy="502920"/>
          </a:xfrm>
          <a:prstGeom prst="roundRect">
            <a:avLst>
              <a:gd name="adj" fmla="val 18182"/>
            </a:avLst>
          </a:prstGeom>
          <a:solidFill>
            <a:srgbClr val="C8362E"/>
          </a:solidFill>
          <a:ln w="12700">
            <a:solidFill>
              <a:srgbClr val="C8362E"/>
            </a:solidFill>
            <a:prstDash val="solid"/>
          </a:ln>
        </p:spPr>
      </p:sp>
      <p:sp>
        <p:nvSpPr>
          <p:cNvPr id="8" name="Text 5"/>
          <p:cNvSpPr txBox="1"/>
          <p:nvPr/>
        </p:nvSpPr>
        <p:spPr>
          <a:xfrm>
            <a:off x="731520" y="1874520"/>
            <a:ext cx="320040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SUSPECTED FRAUD</a:t>
            </a:r>
            <a:endParaRPr lang="en-US" sz="1400" dirty="0"/>
          </a:p>
        </p:txBody>
      </p:sp>
      <p:sp>
        <p:nvSpPr>
          <p:cNvPr id="9" name="Text 6"/>
          <p:cNvSpPr txBox="1"/>
          <p:nvPr/>
        </p:nvSpPr>
        <p:spPr>
          <a:xfrm>
            <a:off x="822960" y="2606040"/>
            <a:ext cx="3017520" cy="822960"/>
          </a:xfrm>
          <a:prstGeom prst="rect">
            <a:avLst/>
          </a:prstGeom>
          <a:noFill/>
          <a:ln/>
        </p:spPr>
        <p:txBody>
          <a:bodyPr wrap="square" lIns="0" tIns="0" rIns="0" bIns="0" rtlCol="0" anchor="t"/>
          <a:lstStyle/>
          <a:p>
            <a:pPr indent="0" marL="0">
              <a:buNone/>
            </a:pPr>
            <a:r>
              <a:rPr lang="en-US" sz="2200" b="1" dirty="0">
                <a:solidFill>
                  <a:srgbClr val="0B1F3A"/>
                </a:solidFill>
                <a:latin typeface="Cambria" pitchFamily="34" charset="0"/>
                <a:ea typeface="Cambria" pitchFamily="34" charset="-122"/>
                <a:cs typeface="Cambria" pitchFamily="34" charset="-120"/>
              </a:rPr>
              <a:t>IDR 13.0bn | 15 payments</a:t>
            </a:r>
            <a:endParaRPr lang="en-US" sz="2200" dirty="0"/>
          </a:p>
        </p:txBody>
      </p:sp>
      <p:sp>
        <p:nvSpPr>
          <p:cNvPr id="10" name="Text 7"/>
          <p:cNvSpPr txBox="1"/>
          <p:nvPr/>
        </p:nvSpPr>
        <p:spPr>
          <a:xfrm>
            <a:off x="822960" y="3520440"/>
            <a:ext cx="3017520" cy="2468880"/>
          </a:xfrm>
          <a:prstGeom prst="rect">
            <a:avLst/>
          </a:prstGeom>
          <a:noFill/>
          <a:ln/>
        </p:spPr>
        <p:txBody>
          <a:bodyPr wrap="square" lIns="0" tIns="0" rIns="0" bIns="0" rtlCol="0" anchor="t"/>
          <a:lstStyle/>
          <a:p>
            <a:pPr indent="0" marL="0">
              <a:buNone/>
            </a:pPr>
            <a:r>
              <a:rPr lang="en-US" sz="1500" dirty="0">
                <a:solidFill>
                  <a:srgbClr val="44546A"/>
                </a:solidFill>
                <a:latin typeface="Calibri" pitchFamily="34" charset="0"/>
                <a:ea typeface="Calibri" pitchFamily="34" charset="-122"/>
                <a:cs typeface="Calibri" pitchFamily="34" charset="-120"/>
              </a:rPr>
              <a:t>RNS payments with no commercial support, self-approved, vendor and account set up by Finance. Individual responsibility not concluded.</a:t>
            </a:r>
            <a:endParaRPr lang="en-US" sz="1500" dirty="0"/>
          </a:p>
        </p:txBody>
      </p:sp>
      <p:sp>
        <p:nvSpPr>
          <p:cNvPr id="11" name="Shape 8"/>
          <p:cNvSpPr/>
          <p:nvPr/>
        </p:nvSpPr>
        <p:spPr>
          <a:xfrm>
            <a:off x="4297680" y="1691640"/>
            <a:ext cx="3566160" cy="4434840"/>
          </a:xfrm>
          <a:prstGeom prst="roundRect">
            <a:avLst>
              <a:gd name="adj" fmla="val 3077"/>
            </a:avLst>
          </a:prstGeom>
          <a:solidFill>
            <a:srgbClr val="F3F5F9"/>
          </a:solidFill>
          <a:ln w="12700">
            <a:solidFill>
              <a:srgbClr val="F3F5F9"/>
            </a:solidFill>
            <a:prstDash val="solid"/>
          </a:ln>
        </p:spPr>
      </p:sp>
      <p:sp>
        <p:nvSpPr>
          <p:cNvPr id="12" name="Shape 9"/>
          <p:cNvSpPr/>
          <p:nvPr/>
        </p:nvSpPr>
        <p:spPr>
          <a:xfrm>
            <a:off x="4480560" y="1874520"/>
            <a:ext cx="3200400" cy="502920"/>
          </a:xfrm>
          <a:prstGeom prst="roundRect">
            <a:avLst>
              <a:gd name="adj" fmla="val 18182"/>
            </a:avLst>
          </a:prstGeom>
          <a:solidFill>
            <a:srgbClr val="F2A541"/>
          </a:solidFill>
          <a:ln w="12700">
            <a:solidFill>
              <a:srgbClr val="F2A541"/>
            </a:solidFill>
            <a:prstDash val="solid"/>
          </a:ln>
        </p:spPr>
      </p:sp>
      <p:sp>
        <p:nvSpPr>
          <p:cNvPr id="13" name="Text 10"/>
          <p:cNvSpPr txBox="1"/>
          <p:nvPr/>
        </p:nvSpPr>
        <p:spPr>
          <a:xfrm>
            <a:off x="4480560" y="1874520"/>
            <a:ext cx="320040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UNRESOLVED</a:t>
            </a:r>
            <a:endParaRPr lang="en-US" sz="1400" dirty="0"/>
          </a:p>
        </p:txBody>
      </p:sp>
      <p:sp>
        <p:nvSpPr>
          <p:cNvPr id="14" name="Text 11"/>
          <p:cNvSpPr txBox="1"/>
          <p:nvPr/>
        </p:nvSpPr>
        <p:spPr>
          <a:xfrm>
            <a:off x="4572000" y="2606040"/>
            <a:ext cx="3017520" cy="822960"/>
          </a:xfrm>
          <a:prstGeom prst="rect">
            <a:avLst/>
          </a:prstGeom>
          <a:noFill/>
          <a:ln/>
        </p:spPr>
        <p:txBody>
          <a:bodyPr wrap="square" lIns="0" tIns="0" rIns="0" bIns="0" rtlCol="0" anchor="t"/>
          <a:lstStyle/>
          <a:p>
            <a:pPr indent="0" marL="0">
              <a:buNone/>
            </a:pPr>
            <a:r>
              <a:rPr lang="en-US" sz="2200" b="1" dirty="0">
                <a:solidFill>
                  <a:srgbClr val="0B1F3A"/>
                </a:solidFill>
                <a:latin typeface="Cambria" pitchFamily="34" charset="0"/>
                <a:ea typeface="Cambria" pitchFamily="34" charset="-122"/>
                <a:cs typeface="Cambria" pitchFamily="34" charset="-120"/>
              </a:rPr>
              <a:t>IDR 5.08bn | 13 payments</a:t>
            </a:r>
            <a:endParaRPr lang="en-US" sz="2200" dirty="0"/>
          </a:p>
        </p:txBody>
      </p:sp>
      <p:sp>
        <p:nvSpPr>
          <p:cNvPr id="15" name="Text 12"/>
          <p:cNvSpPr txBox="1"/>
          <p:nvPr/>
        </p:nvSpPr>
        <p:spPr>
          <a:xfrm>
            <a:off x="4572000" y="3520440"/>
            <a:ext cx="3017520" cy="2468880"/>
          </a:xfrm>
          <a:prstGeom prst="rect">
            <a:avLst/>
          </a:prstGeom>
          <a:noFill/>
          <a:ln/>
        </p:spPr>
        <p:txBody>
          <a:bodyPr wrap="square" lIns="0" tIns="0" rIns="0" bIns="0" rtlCol="0" anchor="t"/>
          <a:lstStyle/>
          <a:p>
            <a:pPr indent="0" marL="0">
              <a:buNone/>
            </a:pPr>
            <a:r>
              <a:rPr lang="en-US" sz="1500" dirty="0">
                <a:solidFill>
                  <a:srgbClr val="44546A"/>
                </a:solidFill>
                <a:latin typeface="Calibri" pitchFamily="34" charset="0"/>
                <a:ea typeface="Calibri" pitchFamily="34" charset="-122"/>
                <a:cs typeface="Calibri" pitchFamily="34" charset="-120"/>
              </a:rPr>
              <a:t>Partial documents (12) and one RNS contract payment. Related-party link awaiting EV-07 / EV-08. Fee receipt dates need confirmation.</a:t>
            </a:r>
            <a:endParaRPr lang="en-US" sz="1500" dirty="0"/>
          </a:p>
        </p:txBody>
      </p:sp>
      <p:sp>
        <p:nvSpPr>
          <p:cNvPr id="16" name="Shape 13"/>
          <p:cNvSpPr/>
          <p:nvPr/>
        </p:nvSpPr>
        <p:spPr>
          <a:xfrm>
            <a:off x="8046720" y="1691640"/>
            <a:ext cx="3566160" cy="4434840"/>
          </a:xfrm>
          <a:prstGeom prst="roundRect">
            <a:avLst>
              <a:gd name="adj" fmla="val 3077"/>
            </a:avLst>
          </a:prstGeom>
          <a:solidFill>
            <a:srgbClr val="F3F5F9"/>
          </a:solidFill>
          <a:ln w="12700">
            <a:solidFill>
              <a:srgbClr val="F3F5F9"/>
            </a:solidFill>
            <a:prstDash val="solid"/>
          </a:ln>
        </p:spPr>
      </p:sp>
      <p:sp>
        <p:nvSpPr>
          <p:cNvPr id="17" name="Shape 14"/>
          <p:cNvSpPr/>
          <p:nvPr/>
        </p:nvSpPr>
        <p:spPr>
          <a:xfrm>
            <a:off x="8229600" y="1874520"/>
            <a:ext cx="3200400" cy="502920"/>
          </a:xfrm>
          <a:prstGeom prst="roundRect">
            <a:avLst>
              <a:gd name="adj" fmla="val 18182"/>
            </a:avLst>
          </a:prstGeom>
          <a:solidFill>
            <a:srgbClr val="2E8B57"/>
          </a:solidFill>
          <a:ln w="12700">
            <a:solidFill>
              <a:srgbClr val="2E8B57"/>
            </a:solidFill>
            <a:prstDash val="solid"/>
          </a:ln>
        </p:spPr>
      </p:sp>
      <p:sp>
        <p:nvSpPr>
          <p:cNvPr id="18" name="Text 15"/>
          <p:cNvSpPr txBox="1"/>
          <p:nvPr/>
        </p:nvSpPr>
        <p:spPr>
          <a:xfrm>
            <a:off x="8229600" y="1874520"/>
            <a:ext cx="320040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LEGITIMATE (PROVISIONAL)</a:t>
            </a:r>
            <a:endParaRPr lang="en-US" sz="1400" dirty="0"/>
          </a:p>
        </p:txBody>
      </p:sp>
      <p:sp>
        <p:nvSpPr>
          <p:cNvPr id="19" name="Text 16"/>
          <p:cNvSpPr txBox="1"/>
          <p:nvPr/>
        </p:nvSpPr>
        <p:spPr>
          <a:xfrm>
            <a:off x="8321040" y="2606040"/>
            <a:ext cx="3017520" cy="822960"/>
          </a:xfrm>
          <a:prstGeom prst="rect">
            <a:avLst/>
          </a:prstGeom>
          <a:noFill/>
          <a:ln/>
        </p:spPr>
        <p:txBody>
          <a:bodyPr wrap="square" lIns="0" tIns="0" rIns="0" bIns="0" rtlCol="0" anchor="t"/>
          <a:lstStyle/>
          <a:p>
            <a:pPr indent="0" marL="0">
              <a:buNone/>
            </a:pPr>
            <a:r>
              <a:rPr lang="en-US" sz="2200" b="1" dirty="0">
                <a:solidFill>
                  <a:srgbClr val="0B1F3A"/>
                </a:solidFill>
                <a:latin typeface="Cambria" pitchFamily="34" charset="0"/>
                <a:ea typeface="Cambria" pitchFamily="34" charset="-122"/>
                <a:cs typeface="Cambria" pitchFamily="34" charset="-120"/>
              </a:rPr>
              <a:t>IDR 2.0bn | 9 payments</a:t>
            </a:r>
            <a:endParaRPr lang="en-US" sz="2200" dirty="0"/>
          </a:p>
        </p:txBody>
      </p:sp>
      <p:sp>
        <p:nvSpPr>
          <p:cNvPr id="20" name="Text 17"/>
          <p:cNvSpPr txBox="1"/>
          <p:nvPr/>
        </p:nvSpPr>
        <p:spPr>
          <a:xfrm>
            <a:off x="8321040" y="3520440"/>
            <a:ext cx="3017520" cy="2468880"/>
          </a:xfrm>
          <a:prstGeom prst="rect">
            <a:avLst/>
          </a:prstGeom>
          <a:noFill/>
          <a:ln/>
        </p:spPr>
        <p:txBody>
          <a:bodyPr wrap="square" lIns="0" tIns="0" rIns="0" bIns="0" rtlCol="0" anchor="t"/>
          <a:lstStyle/>
          <a:p>
            <a:pPr indent="0" marL="0">
              <a:buNone/>
            </a:pPr>
            <a:r>
              <a:rPr lang="en-US" sz="1500" dirty="0">
                <a:solidFill>
                  <a:srgbClr val="44546A"/>
                </a:solidFill>
                <a:latin typeface="Calibri" pitchFamily="34" charset="0"/>
                <a:ea typeface="Calibri" pitchFamily="34" charset="-122"/>
                <a:cs typeface="Calibri" pitchFamily="34" charset="-120"/>
              </a:rPr>
              <a:t>Full package on file. All 40 fee receipts reconcile 100% in amount, account and sender. Confirm beneficiary accounts.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Q8, Q9 | CONTROLS &amp; RECOMMENDATIONS</a:t>
            </a:r>
            <a:endParaRPr lang="en-US" sz="1200" dirty="0"/>
          </a:p>
        </p:txBody>
      </p:sp>
      <p:sp>
        <p:nvSpPr>
          <p:cNvPr id="3" name="Text 1"/>
          <p:cNvSpPr txBox="1"/>
          <p:nvPr/>
        </p:nvSpPr>
        <p:spPr>
          <a:xfrm>
            <a:off x="548640" y="594360"/>
            <a:ext cx="11064240" cy="82296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Root causes and what management should change</a:t>
            </a:r>
            <a:endParaRPr lang="en-US" sz="3000" dirty="0"/>
          </a:p>
        </p:txBody>
      </p:sp>
      <p:sp>
        <p:nvSpPr>
          <p:cNvPr id="4" name="Text 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ESM Fraud Investigation | CPA Days 2026</a:t>
            </a:r>
            <a:endParaRPr lang="en-US" sz="1000" dirty="0"/>
          </a:p>
        </p:txBody>
      </p:sp>
      <p:sp>
        <p:nvSpPr>
          <p:cNvPr id="6" name="Shape 3"/>
          <p:cNvSpPr/>
          <p:nvPr/>
        </p:nvSpPr>
        <p:spPr>
          <a:xfrm>
            <a:off x="548640" y="1691640"/>
            <a:ext cx="11064240" cy="914400"/>
          </a:xfrm>
          <a:prstGeom prst="roundRect">
            <a:avLst>
              <a:gd name="adj" fmla="val 12000"/>
            </a:avLst>
          </a:prstGeom>
          <a:solidFill>
            <a:srgbClr val="F3F5F9"/>
          </a:solidFill>
          <a:ln w="12700">
            <a:solidFill>
              <a:srgbClr val="F3F5F9"/>
            </a:solidFill>
            <a:prstDash val="solid"/>
          </a:ln>
        </p:spPr>
      </p:sp>
      <p:sp>
        <p:nvSpPr>
          <p:cNvPr id="7" name="Shape 4"/>
          <p:cNvSpPr/>
          <p:nvPr/>
        </p:nvSpPr>
        <p:spPr>
          <a:xfrm>
            <a:off x="548640" y="1691640"/>
            <a:ext cx="3383280" cy="914400"/>
          </a:xfrm>
          <a:prstGeom prst="roundRect">
            <a:avLst>
              <a:gd name="adj" fmla="val 12000"/>
            </a:avLst>
          </a:prstGeom>
          <a:solidFill>
            <a:srgbClr val="0B1F3A"/>
          </a:solidFill>
          <a:ln w="12700">
            <a:solidFill>
              <a:srgbClr val="0B1F3A"/>
            </a:solidFill>
            <a:prstDash val="solid"/>
          </a:ln>
        </p:spPr>
      </p:sp>
      <p:sp>
        <p:nvSpPr>
          <p:cNvPr id="8" name="Text 5"/>
          <p:cNvSpPr txBox="1"/>
          <p:nvPr/>
        </p:nvSpPr>
        <p:spPr>
          <a:xfrm>
            <a:off x="731520" y="1691640"/>
            <a:ext cx="3017520" cy="9144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 segregation of duties</a:t>
            </a:r>
            <a:endParaRPr lang="en-US" sz="1500" dirty="0"/>
          </a:p>
        </p:txBody>
      </p:sp>
      <p:sp>
        <p:nvSpPr>
          <p:cNvPr id="9" name="Text 6"/>
          <p:cNvSpPr txBox="1"/>
          <p:nvPr/>
        </p:nvSpPr>
        <p:spPr>
          <a:xfrm>
            <a:off x="4114800" y="1691640"/>
            <a:ext cx="7315200" cy="914400"/>
          </a:xfrm>
          <a:prstGeom prst="rect">
            <a:avLst/>
          </a:prstGeom>
          <a:noFill/>
          <a:ln/>
        </p:spPr>
        <p:txBody>
          <a:bodyPr wrap="square" lIns="0" tIns="0" rIns="0" bIns="0" rtlCol="0" anchor="ctr"/>
          <a:lstStyle/>
          <a:p>
            <a:pPr indent="0" marL="0">
              <a:buNone/>
            </a:pPr>
            <a:r>
              <a:rPr lang="en-US" sz="1400" dirty="0">
                <a:solidFill>
                  <a:srgbClr val="0B1F3A"/>
                </a:solidFill>
                <a:latin typeface="Calibri" pitchFamily="34" charset="0"/>
                <a:ea typeface="Calibri" pitchFamily="34" charset="-122"/>
                <a:cs typeface="Calibri" pitchFamily="34" charset="-120"/>
              </a:rPr>
              <a:t>Enforce maker / checker / approver separation in the system; tiered approval by value; block self-approval</a:t>
            </a:r>
            <a:endParaRPr lang="en-US" sz="1400" dirty="0"/>
          </a:p>
        </p:txBody>
      </p:sp>
      <p:sp>
        <p:nvSpPr>
          <p:cNvPr id="10" name="Shape 7"/>
          <p:cNvSpPr/>
          <p:nvPr/>
        </p:nvSpPr>
        <p:spPr>
          <a:xfrm>
            <a:off x="548640" y="2743200"/>
            <a:ext cx="11064240" cy="914400"/>
          </a:xfrm>
          <a:prstGeom prst="roundRect">
            <a:avLst>
              <a:gd name="adj" fmla="val 12000"/>
            </a:avLst>
          </a:prstGeom>
          <a:solidFill>
            <a:srgbClr val="F3F5F9"/>
          </a:solidFill>
          <a:ln w="12700">
            <a:solidFill>
              <a:srgbClr val="F3F5F9"/>
            </a:solidFill>
            <a:prstDash val="solid"/>
          </a:ln>
        </p:spPr>
      </p:sp>
      <p:sp>
        <p:nvSpPr>
          <p:cNvPr id="11" name="Shape 8"/>
          <p:cNvSpPr/>
          <p:nvPr/>
        </p:nvSpPr>
        <p:spPr>
          <a:xfrm>
            <a:off x="548640" y="2743200"/>
            <a:ext cx="3383280" cy="914400"/>
          </a:xfrm>
          <a:prstGeom prst="roundRect">
            <a:avLst>
              <a:gd name="adj" fmla="val 12000"/>
            </a:avLst>
          </a:prstGeom>
          <a:solidFill>
            <a:srgbClr val="0B1F3A"/>
          </a:solidFill>
          <a:ln w="12700">
            <a:solidFill>
              <a:srgbClr val="0B1F3A"/>
            </a:solidFill>
            <a:prstDash val="solid"/>
          </a:ln>
        </p:spPr>
      </p:sp>
      <p:sp>
        <p:nvSpPr>
          <p:cNvPr id="12" name="Text 9"/>
          <p:cNvSpPr txBox="1"/>
          <p:nvPr/>
        </p:nvSpPr>
        <p:spPr>
          <a:xfrm>
            <a:off x="731520" y="2743200"/>
            <a:ext cx="3017520" cy="9144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Approval without substance</a:t>
            </a:r>
            <a:endParaRPr lang="en-US" sz="1500" dirty="0"/>
          </a:p>
        </p:txBody>
      </p:sp>
      <p:sp>
        <p:nvSpPr>
          <p:cNvPr id="13" name="Text 10"/>
          <p:cNvSpPr txBox="1"/>
          <p:nvPr/>
        </p:nvSpPr>
        <p:spPr>
          <a:xfrm>
            <a:off x="4114800" y="2743200"/>
            <a:ext cx="7315200" cy="914400"/>
          </a:xfrm>
          <a:prstGeom prst="rect">
            <a:avLst/>
          </a:prstGeom>
          <a:noFill/>
          <a:ln/>
        </p:spPr>
        <p:txBody>
          <a:bodyPr wrap="square" lIns="0" tIns="0" rIns="0" bIns="0" rtlCol="0" anchor="ctr"/>
          <a:lstStyle/>
          <a:p>
            <a:pPr indent="0" marL="0">
              <a:buNone/>
            </a:pPr>
            <a:r>
              <a:rPr lang="en-US" sz="1400" dirty="0">
                <a:solidFill>
                  <a:srgbClr val="0B1F3A"/>
                </a:solidFill>
                <a:latin typeface="Calibri" pitchFamily="34" charset="0"/>
                <a:ea typeface="Calibri" pitchFamily="34" charset="-122"/>
                <a:cs typeface="Calibri" pitchFamily="34" charset="-120"/>
              </a:rPr>
              <a:t>Three-way match (contract/PO, receipt, invoice) before release; no payment on request + email alone</a:t>
            </a:r>
            <a:endParaRPr lang="en-US" sz="1400" dirty="0"/>
          </a:p>
        </p:txBody>
      </p:sp>
      <p:sp>
        <p:nvSpPr>
          <p:cNvPr id="14" name="Shape 11"/>
          <p:cNvSpPr/>
          <p:nvPr/>
        </p:nvSpPr>
        <p:spPr>
          <a:xfrm>
            <a:off x="548640" y="3794760"/>
            <a:ext cx="11064240" cy="914400"/>
          </a:xfrm>
          <a:prstGeom prst="roundRect">
            <a:avLst>
              <a:gd name="adj" fmla="val 12000"/>
            </a:avLst>
          </a:prstGeom>
          <a:solidFill>
            <a:srgbClr val="F3F5F9"/>
          </a:solidFill>
          <a:ln w="12700">
            <a:solidFill>
              <a:srgbClr val="F3F5F9"/>
            </a:solidFill>
            <a:prstDash val="solid"/>
          </a:ln>
        </p:spPr>
      </p:sp>
      <p:sp>
        <p:nvSpPr>
          <p:cNvPr id="15" name="Shape 12"/>
          <p:cNvSpPr/>
          <p:nvPr/>
        </p:nvSpPr>
        <p:spPr>
          <a:xfrm>
            <a:off x="548640" y="3794760"/>
            <a:ext cx="3383280" cy="914400"/>
          </a:xfrm>
          <a:prstGeom prst="roundRect">
            <a:avLst>
              <a:gd name="adj" fmla="val 12000"/>
            </a:avLst>
          </a:prstGeom>
          <a:solidFill>
            <a:srgbClr val="0B1F3A"/>
          </a:solidFill>
          <a:ln w="12700">
            <a:solidFill>
              <a:srgbClr val="0B1F3A"/>
            </a:solidFill>
            <a:prstDash val="solid"/>
          </a:ln>
        </p:spPr>
      </p:sp>
      <p:sp>
        <p:nvSpPr>
          <p:cNvPr id="16" name="Text 13"/>
          <p:cNvSpPr txBox="1"/>
          <p:nvPr/>
        </p:nvSpPr>
        <p:spPr>
          <a:xfrm>
            <a:off x="731520" y="3794760"/>
            <a:ext cx="3017520" cy="9144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Weak vendor and bank master</a:t>
            </a:r>
            <a:endParaRPr lang="en-US" sz="1500" dirty="0"/>
          </a:p>
        </p:txBody>
      </p:sp>
      <p:sp>
        <p:nvSpPr>
          <p:cNvPr id="17" name="Text 14"/>
          <p:cNvSpPr txBox="1"/>
          <p:nvPr/>
        </p:nvSpPr>
        <p:spPr>
          <a:xfrm>
            <a:off x="4114800" y="3794760"/>
            <a:ext cx="7315200" cy="914400"/>
          </a:xfrm>
          <a:prstGeom prst="rect">
            <a:avLst/>
          </a:prstGeom>
          <a:noFill/>
          <a:ln/>
        </p:spPr>
        <p:txBody>
          <a:bodyPr wrap="square" lIns="0" tIns="0" rIns="0" bIns="0" rtlCol="0" anchor="ctr"/>
          <a:lstStyle/>
          <a:p>
            <a:pPr indent="0" marL="0">
              <a:buNone/>
            </a:pPr>
            <a:r>
              <a:rPr lang="en-US" sz="1400" dirty="0">
                <a:solidFill>
                  <a:srgbClr val="0B1F3A"/>
                </a:solidFill>
                <a:latin typeface="Calibri" pitchFamily="34" charset="0"/>
                <a:ea typeface="Calibri" pitchFamily="34" charset="-122"/>
                <a:cs typeface="Calibri" pitchFamily="34" charset="-120"/>
              </a:rPr>
              <a:t>Independent onboarding; bank-account changes need callback and Procurement sign-off; periodic master review</a:t>
            </a:r>
            <a:endParaRPr lang="en-US" sz="1400" dirty="0"/>
          </a:p>
        </p:txBody>
      </p:sp>
      <p:sp>
        <p:nvSpPr>
          <p:cNvPr id="18" name="Shape 15"/>
          <p:cNvSpPr/>
          <p:nvPr/>
        </p:nvSpPr>
        <p:spPr>
          <a:xfrm>
            <a:off x="548640" y="4846320"/>
            <a:ext cx="11064240" cy="914400"/>
          </a:xfrm>
          <a:prstGeom prst="roundRect">
            <a:avLst>
              <a:gd name="adj" fmla="val 12000"/>
            </a:avLst>
          </a:prstGeom>
          <a:solidFill>
            <a:srgbClr val="F3F5F9"/>
          </a:solidFill>
          <a:ln w="12700">
            <a:solidFill>
              <a:srgbClr val="F3F5F9"/>
            </a:solidFill>
            <a:prstDash val="solid"/>
          </a:ln>
        </p:spPr>
      </p:sp>
      <p:sp>
        <p:nvSpPr>
          <p:cNvPr id="19" name="Shape 16"/>
          <p:cNvSpPr/>
          <p:nvPr/>
        </p:nvSpPr>
        <p:spPr>
          <a:xfrm>
            <a:off x="548640" y="4846320"/>
            <a:ext cx="3383280" cy="914400"/>
          </a:xfrm>
          <a:prstGeom prst="roundRect">
            <a:avLst>
              <a:gd name="adj" fmla="val 12000"/>
            </a:avLst>
          </a:prstGeom>
          <a:solidFill>
            <a:srgbClr val="0B1F3A"/>
          </a:solidFill>
          <a:ln w="12700">
            <a:solidFill>
              <a:srgbClr val="0B1F3A"/>
            </a:solidFill>
            <a:prstDash val="solid"/>
          </a:ln>
        </p:spPr>
      </p:sp>
      <p:sp>
        <p:nvSpPr>
          <p:cNvPr id="20" name="Text 17"/>
          <p:cNvSpPr txBox="1"/>
          <p:nvPr/>
        </p:nvSpPr>
        <p:spPr>
          <a:xfrm>
            <a:off x="731520" y="4846320"/>
            <a:ext cx="3017520" cy="9144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 monitoring or related-party control</a:t>
            </a:r>
            <a:endParaRPr lang="en-US" sz="1500" dirty="0"/>
          </a:p>
        </p:txBody>
      </p:sp>
      <p:sp>
        <p:nvSpPr>
          <p:cNvPr id="21" name="Text 18"/>
          <p:cNvSpPr txBox="1"/>
          <p:nvPr/>
        </p:nvSpPr>
        <p:spPr>
          <a:xfrm>
            <a:off x="4114800" y="4846320"/>
            <a:ext cx="7315200" cy="914400"/>
          </a:xfrm>
          <a:prstGeom prst="rect">
            <a:avLst/>
          </a:prstGeom>
          <a:noFill/>
          <a:ln/>
        </p:spPr>
        <p:txBody>
          <a:bodyPr wrap="square" lIns="0" tIns="0" rIns="0" bIns="0" rtlCol="0" anchor="ctr"/>
          <a:lstStyle/>
          <a:p>
            <a:pPr indent="0" marL="0">
              <a:buNone/>
            </a:pPr>
            <a:r>
              <a:rPr lang="en-US" sz="1400" dirty="0">
                <a:solidFill>
                  <a:srgbClr val="0B1F3A"/>
                </a:solidFill>
                <a:latin typeface="Calibri" pitchFamily="34" charset="0"/>
                <a:ea typeface="Calibri" pitchFamily="34" charset="-122"/>
                <a:cs typeface="Calibri" pitchFamily="34" charset="-120"/>
              </a:rPr>
              <a:t>Monthly reconciliations; analytics on payee concentration and near-threshold amounts; annual conflict-of-interest declarations</a:t>
            </a:r>
            <a:endParaRPr lang="en-US" sz="1400" dirty="0"/>
          </a:p>
        </p:txBody>
      </p:sp>
      <p:sp>
        <p:nvSpPr>
          <p:cNvPr id="22" name="Text 19"/>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300" i="1" dirty="0">
                <a:solidFill>
                  <a:srgbClr val="44546A"/>
                </a:solidFill>
                <a:latin typeface="Calibri" pitchFamily="34" charset="0"/>
                <a:ea typeface="Calibri" pitchFamily="34" charset="-122"/>
                <a:cs typeface="Calibri" pitchFamily="34" charset="-120"/>
              </a:rPr>
              <a:t>Next: obtain user master and approval matrix, EV-01 to EV-08, full vendor and bank master, RNS bank statements.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731520" y="1463040"/>
            <a:ext cx="105156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IDR 13.0bn needs an answer</a:t>
            </a:r>
            <a:endParaRPr lang="en-US" sz="4400" dirty="0"/>
          </a:p>
        </p:txBody>
      </p:sp>
      <p:sp>
        <p:nvSpPr>
          <p:cNvPr id="3" name="Text 1"/>
          <p:cNvSpPr txBox="1"/>
          <p:nvPr/>
        </p:nvSpPr>
        <p:spPr>
          <a:xfrm>
            <a:off x="731520" y="2560320"/>
            <a:ext cx="10515600" cy="640080"/>
          </a:xfrm>
          <a:prstGeom prst="rect">
            <a:avLst/>
          </a:prstGeom>
          <a:noFill/>
          <a:ln/>
        </p:spPr>
        <p:txBody>
          <a:bodyPr wrap="square" lIns="0" tIns="0" rIns="0" bIns="0" rtlCol="0" anchor="ctr"/>
          <a:lstStyle/>
          <a:p>
            <a:pPr indent="0" marL="0">
              <a:buNone/>
            </a:pPr>
            <a:r>
              <a:rPr lang="en-US" sz="2400" dirty="0">
                <a:solidFill>
                  <a:srgbClr val="F2A541"/>
                </a:solidFill>
                <a:latin typeface="Calibri" pitchFamily="34" charset="0"/>
                <a:ea typeface="Calibri" pitchFamily="34" charset="-122"/>
                <a:cs typeface="Calibri" pitchFamily="34" charset="-120"/>
              </a:rPr>
              <a:t>Facts are established. Who benefited is not yet.</a:t>
            </a:r>
            <a:endParaRPr lang="en-US" sz="2400" dirty="0"/>
          </a:p>
        </p:txBody>
      </p:sp>
      <p:sp>
        <p:nvSpPr>
          <p:cNvPr id="4" name="Shape 2"/>
          <p:cNvSpPr/>
          <p:nvPr/>
        </p:nvSpPr>
        <p:spPr>
          <a:xfrm>
            <a:off x="731520" y="3657600"/>
            <a:ext cx="274320" cy="274320"/>
          </a:xfrm>
          <a:prstGeom prst="roundRect">
            <a:avLst>
              <a:gd name="adj" fmla="val 16667"/>
            </a:avLst>
          </a:prstGeom>
          <a:solidFill>
            <a:srgbClr val="F2A541"/>
          </a:solidFill>
          <a:ln w="12700">
            <a:solidFill>
              <a:srgbClr val="F2A541"/>
            </a:solidFill>
            <a:prstDash val="solid"/>
          </a:ln>
        </p:spPr>
      </p:sp>
      <p:sp>
        <p:nvSpPr>
          <p:cNvPr id="5" name="Text 3"/>
          <p:cNvSpPr txBox="1"/>
          <p:nvPr/>
        </p:nvSpPr>
        <p:spPr>
          <a:xfrm>
            <a:off x="1188720" y="3611880"/>
            <a:ext cx="1005840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Fee receipts reconcile: no leakage on the receipt side</a:t>
            </a:r>
            <a:endParaRPr lang="en-US" sz="1800" dirty="0"/>
          </a:p>
        </p:txBody>
      </p:sp>
      <p:sp>
        <p:nvSpPr>
          <p:cNvPr id="6" name="Shape 4"/>
          <p:cNvSpPr/>
          <p:nvPr/>
        </p:nvSpPr>
        <p:spPr>
          <a:xfrm>
            <a:off x="731520" y="4297680"/>
            <a:ext cx="274320" cy="274320"/>
          </a:xfrm>
          <a:prstGeom prst="roundRect">
            <a:avLst>
              <a:gd name="adj" fmla="val 16667"/>
            </a:avLst>
          </a:prstGeom>
          <a:solidFill>
            <a:srgbClr val="F2A541"/>
          </a:solidFill>
          <a:ln w="12700">
            <a:solidFill>
              <a:srgbClr val="F2A541"/>
            </a:solidFill>
            <a:prstDash val="solid"/>
          </a:ln>
        </p:spPr>
      </p:sp>
      <p:sp>
        <p:nvSpPr>
          <p:cNvPr id="7" name="Text 5"/>
          <p:cNvSpPr txBox="1"/>
          <p:nvPr/>
        </p:nvSpPr>
        <p:spPr>
          <a:xfrm>
            <a:off x="1188720" y="4251960"/>
            <a:ext cx="1005840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15 payments to one counterparty lack any commercial support</a:t>
            </a:r>
            <a:endParaRPr lang="en-US" sz="1800" dirty="0"/>
          </a:p>
        </p:txBody>
      </p:sp>
      <p:sp>
        <p:nvSpPr>
          <p:cNvPr id="8" name="Shape 6"/>
          <p:cNvSpPr/>
          <p:nvPr/>
        </p:nvSpPr>
        <p:spPr>
          <a:xfrm>
            <a:off x="731520" y="4937760"/>
            <a:ext cx="274320" cy="274320"/>
          </a:xfrm>
          <a:prstGeom prst="roundRect">
            <a:avLst>
              <a:gd name="adj" fmla="val 16667"/>
            </a:avLst>
          </a:prstGeom>
          <a:solidFill>
            <a:srgbClr val="F2A541"/>
          </a:solidFill>
          <a:ln w="12700">
            <a:solidFill>
              <a:srgbClr val="F2A541"/>
            </a:solidFill>
            <a:prstDash val="solid"/>
          </a:ln>
        </p:spPr>
      </p:sp>
      <p:sp>
        <p:nvSpPr>
          <p:cNvPr id="9" name="Text 7"/>
          <p:cNvSpPr txBox="1"/>
          <p:nvPr/>
        </p:nvSpPr>
        <p:spPr>
          <a:xfrm>
            <a:off x="1188720" y="4892040"/>
            <a:ext cx="1005840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One user controlled the entire approval chain</a:t>
            </a:r>
            <a:endParaRPr lang="en-US" sz="1800" dirty="0"/>
          </a:p>
        </p:txBody>
      </p:sp>
      <p:sp>
        <p:nvSpPr>
          <p:cNvPr id="10" name="Shape 8"/>
          <p:cNvSpPr/>
          <p:nvPr/>
        </p:nvSpPr>
        <p:spPr>
          <a:xfrm>
            <a:off x="731520" y="5577840"/>
            <a:ext cx="274320" cy="274320"/>
          </a:xfrm>
          <a:prstGeom prst="roundRect">
            <a:avLst>
              <a:gd name="adj" fmla="val 16667"/>
            </a:avLst>
          </a:prstGeom>
          <a:solidFill>
            <a:srgbClr val="F2A541"/>
          </a:solidFill>
          <a:ln w="12700">
            <a:solidFill>
              <a:srgbClr val="F2A541"/>
            </a:solidFill>
            <a:prstDash val="solid"/>
          </a:ln>
        </p:spPr>
      </p:sp>
      <p:sp>
        <p:nvSpPr>
          <p:cNvPr id="11" name="Text 9"/>
          <p:cNvSpPr txBox="1"/>
          <p:nvPr/>
        </p:nvSpPr>
        <p:spPr>
          <a:xfrm>
            <a:off x="1188720" y="5532120"/>
            <a:ext cx="1005840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Related-party conclusion awaits EV-07 / EV-08</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ESM Fraud Investigation</dc:title>
  <dc:subject>PptxGenJS Presentation</dc:subject>
  <dc:creator>PptxGenJS</dc:creator>
  <cp:lastModifiedBy>PptxGenJS</cp:lastModifiedBy>
  <cp:revision>1</cp:revision>
  <dcterms:created xsi:type="dcterms:W3CDTF">2026-09-30T06:01:25Z</dcterms:created>
  <dcterms:modified xsi:type="dcterms:W3CDTF">2026-09-30T06:01:25Z</dcterms:modified>
</cp:coreProperties>
</file>